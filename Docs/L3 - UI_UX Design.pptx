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5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9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embeddedFontLst>
    <p:embeddedFont>
      <p:font typeface="MiSans" panose="020B0604020202020204" charset="-122"/>
      <p:regular r:id="rId32"/>
    </p:embeddedFont>
    <p:embeddedFont>
      <p:font typeface="Noto Sans SC" panose="020B0604020202020204" charset="-128"/>
      <p:regular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22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7BE0-005D-FD4D-9246-905F720F99C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201B-42DF-5B44-914E-56545B103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2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87123" y="1963617"/>
            <a:ext cx="7632772" cy="371759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ea typeface="+mj-ea"/>
                <a:cs typeface="AngsanaUPC" panose="020B0502040204020203" pitchFamily="18" charset="-34"/>
              </a:rPr>
              <a:t>PUSL3190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ea typeface="+mj-ea"/>
                <a:cs typeface="AngsanaUPC" panose="020B0502040204020203" pitchFamily="18" charset="-34"/>
              </a:rPr>
              <a:t>Computing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ea typeface="+mj-ea"/>
                <a:cs typeface="AngsanaUPC" panose="020B0502040204020203" pitchFamily="18" charset="-34"/>
              </a:rPr>
              <a:t>Project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kern="1200" dirty="0">
              <a:solidFill>
                <a:srgbClr val="FFFFFF"/>
              </a:solidFill>
              <a:ea typeface="Verdana" panose="020B0604030504040204" pitchFamily="34" charset="0"/>
              <a:cs typeface="AngsanaUPC" panose="020B0502040204020203" pitchFamily="18" charset="-34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FFFF"/>
                </a:solidFill>
                <a:ea typeface="Verdana" panose="020B0604030504040204" pitchFamily="34" charset="0"/>
                <a:cs typeface="AngsanaUPC" panose="020B0502040204020203" pitchFamily="18" charset="-34"/>
              </a:rPr>
              <a:t>Plymouth Batch 09</a:t>
            </a:r>
            <a:endParaRPr lang="en-US" sz="3200" b="1" kern="1200" dirty="0">
              <a:solidFill>
                <a:srgbClr val="FFFFFF"/>
              </a:solidFill>
              <a:ea typeface="Verdana" panose="020B0604030504040204" pitchFamily="34" charset="0"/>
              <a:cs typeface="AngsanaUPC" panose="020B0502040204020203" pitchFamily="18" charset="-3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rgbClr val="FFFFFF"/>
              </a:solidFill>
              <a:ea typeface="+mj-ea"/>
              <a:cs typeface="AngsanaUPC" panose="020B0502040204020203" pitchFamily="18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8024B2-8527-DCCA-45A0-1220FC050069}"/>
              </a:ext>
            </a:extLst>
          </p:cNvPr>
          <p:cNvGrpSpPr/>
          <p:nvPr/>
        </p:nvGrpSpPr>
        <p:grpSpPr>
          <a:xfrm>
            <a:off x="0" y="5974041"/>
            <a:ext cx="12192000" cy="883959"/>
            <a:chOff x="0" y="5974041"/>
            <a:chExt cx="12192000" cy="883959"/>
          </a:xfrm>
          <a:solidFill>
            <a:srgbClr val="0B0E38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632100-59CA-C70E-F03B-886052D98510}"/>
                </a:ext>
              </a:extLst>
            </p:cNvPr>
            <p:cNvSpPr/>
            <p:nvPr/>
          </p:nvSpPr>
          <p:spPr>
            <a:xfrm>
              <a:off x="0" y="5974041"/>
              <a:ext cx="12192000" cy="88395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K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FCB854-FDDF-EB3D-25FE-30EC35AA9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7000"/>
                      </a14:imgEffect>
                      <a14:imgEffect>
                        <a14:brightnessContrast bright="-11000" contrast="4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4626" y="6023989"/>
              <a:ext cx="1624358" cy="728635"/>
            </a:xfrm>
            <a:prstGeom prst="rect">
              <a:avLst/>
            </a:prstGeom>
            <a:grpFill/>
          </p:spPr>
        </p:pic>
      </p:grpSp>
      <p:pic>
        <p:nvPicPr>
          <p:cNvPr id="8" name="Picture 4" descr="University of Plymouth | University ...">
            <a:extLst>
              <a:ext uri="{FF2B5EF4-FFF2-40B4-BE49-F238E27FC236}">
                <a16:creationId xmlns:a16="http://schemas.microsoft.com/office/drawing/2014/main" id="{3BE3D5E6-D16B-6B1B-2DED-C78D84A74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9" y="5990105"/>
            <a:ext cx="1650598" cy="867895"/>
          </a:xfrm>
          <a:prstGeom prst="rect">
            <a:avLst/>
          </a:prstGeom>
          <a:noFill/>
          <a:effectLst>
            <a:softEdge rad="18487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FF6E8A-9B19-D19B-6081-1D0355ACB9F8}"/>
              </a:ext>
            </a:extLst>
          </p:cNvPr>
          <p:cNvSpPr txBox="1"/>
          <p:nvPr/>
        </p:nvSpPr>
        <p:spPr>
          <a:xfrm>
            <a:off x="3886389" y="6023989"/>
            <a:ext cx="649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2000" dirty="0">
                <a:solidFill>
                  <a:schemeClr val="bg1"/>
                </a:solidFill>
              </a:rPr>
              <a:t>Diluka Wijesinghe (</a:t>
            </a:r>
            <a:r>
              <a:rPr lang="en-GB" sz="2000" dirty="0">
                <a:solidFill>
                  <a:schemeClr val="bg1"/>
                </a:solidFill>
              </a:rPr>
              <a:t>d</a:t>
            </a:r>
            <a:r>
              <a:rPr lang="en-LK" sz="2000" dirty="0">
                <a:solidFill>
                  <a:schemeClr val="bg1"/>
                </a:solidFill>
              </a:rPr>
              <a:t>iluka.w@nsbm.ac.lk)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F216B-10D0-4FB4-8EAC-457F118DA2F5}"/>
              </a:ext>
            </a:extLst>
          </p:cNvPr>
          <p:cNvSpPr txBox="1"/>
          <p:nvPr/>
        </p:nvSpPr>
        <p:spPr>
          <a:xfrm>
            <a:off x="3809241" y="6424099"/>
            <a:ext cx="457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chemeClr val="bg1"/>
                </a:solidFill>
              </a:rPr>
              <a:t>Faculty of Computing | NSBM Green University</a:t>
            </a:r>
          </a:p>
        </p:txBody>
      </p:sp>
      <p:sp>
        <p:nvSpPr>
          <p:cNvPr id="12" name="AutoShape 2" descr="Image result for group project">
            <a:extLst>
              <a:ext uri="{FF2B5EF4-FFF2-40B4-BE49-F238E27FC236}">
                <a16:creationId xmlns:a16="http://schemas.microsoft.com/office/drawing/2014/main" id="{A287F67A-68C3-72AA-5A5C-D18F94D99F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28984" y="16352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object 8">
            <a:extLst>
              <a:ext uri="{FF2B5EF4-FFF2-40B4-BE49-F238E27FC236}">
                <a16:creationId xmlns:a16="http://schemas.microsoft.com/office/drawing/2014/main" id="{59103E7A-47AB-A9A9-98F1-4D923E12ABE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5649" y="1295739"/>
            <a:ext cx="2995237" cy="301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4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373"/>
    </mc:Choice>
    <mc:Fallback xmlns="">
      <p:transition spd="slow" advTm="963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93250" y="6143625"/>
            <a:ext cx="2541905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93250" y="5563870"/>
            <a:ext cx="2541905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0710" y="1315085"/>
            <a:ext cx="8588375" cy="1771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75255" y="1055370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7525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35375" y="1055370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537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5315" y="1055370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531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5435" y="1055370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5435" y="1055370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88230" y="1223645"/>
            <a:ext cx="5448300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88770" y="2950845"/>
            <a:ext cx="8747760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342245" y="1207135"/>
            <a:ext cx="0" cy="175895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83055" y="1223645"/>
            <a:ext cx="0" cy="175895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57020" y="1210945"/>
            <a:ext cx="742315" cy="0"/>
          </a:xfrm>
          <a:prstGeom prst="line">
            <a:avLst/>
          </a:prstGeom>
          <a:noFill/>
          <a:ln w="57150">
            <a:solidFill>
              <a:srgbClr val="00B0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https://kimi-img.moonshot.cn/pub/slides/slides_tmpl/image/25-08-27-19:57:41-d2nf5d98bjvh7rlivslg.png"/>
          <p:cNvPicPr>
            <a:picLocks noChangeAspect="1"/>
          </p:cNvPicPr>
          <p:nvPr/>
        </p:nvPicPr>
        <p:blipFill>
          <a:blip r:embed="rId3"/>
          <a:srcRect b="42278"/>
          <a:stretch/>
        </p:blipFill>
        <p:spPr>
          <a:xfrm>
            <a:off x="2338070" y="2733675"/>
            <a:ext cx="7030085" cy="4124325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5FCB5F7A-9F7C-859C-3E76-9B4E569B7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208" y="6097286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77A1B690-57AB-EDC5-C5D9-58B89684E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41" y="5968554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9190" y="71628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79190" y="71628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1860" y="824230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79190" y="160274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79190" y="160274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860" y="1710690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79190" y="3363595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79190" y="3363595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21860" y="3471545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79190" y="5147945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9190" y="5147945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21860" y="5255895"/>
            <a:ext cx="0" cy="303530"/>
          </a:xfrm>
          <a:prstGeom prst="line">
            <a:avLst/>
          </a:prstGeom>
          <a:noFill/>
          <a:ln w="762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-24130" y="6262370"/>
            <a:ext cx="12216130" cy="468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79190" y="2466340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79190" y="2466340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21860" y="2574290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79190" y="4261485"/>
            <a:ext cx="5186045" cy="5073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79190" y="4261485"/>
            <a:ext cx="5186045" cy="50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21860" y="4369435"/>
            <a:ext cx="0" cy="30353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https://kimi-img.moonshot.cn/pub/slides/slides_tmpl/image/25-08-27-19:57:41-d2nf5d98bjvh7rlivs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40" y="2921810"/>
            <a:ext cx="2205964" cy="2817320"/>
          </a:xfrm>
          <a:prstGeom prst="rect">
            <a:avLst/>
          </a:prstGeom>
        </p:spPr>
      </p:pic>
      <p:pic>
        <p:nvPicPr>
          <p:cNvPr id="23" name="Image 1" descr="https://kimi-img.moonshot.cn/pub/slides/slides_tmpl/image/25-08-27-19:57:41-d2nf5d98bjvh7rlivs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54" y="1165860"/>
            <a:ext cx="2034775" cy="259554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9146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251585" y="202565"/>
            <a:ext cx="337185" cy="3371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7152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731645" y="202565"/>
            <a:ext cx="337185" cy="337185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-24130" y="6479540"/>
            <a:ext cx="12216130" cy="377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4" name="Image 2" descr="https://kimi-img.moonshot.cn/pub/slides/slides_tmpl/image/25-08-27-19:57:41-d2nf5d98bjvh7rlivsk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70355" y="1701800"/>
            <a:ext cx="865505" cy="30600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806825" y="675640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4885055" y="767080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 of UI/UX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3806825" y="1562100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4885055" y="1653540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&amp; Empathy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3806825" y="2425700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4885055" y="2517140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Ideation &amp; Architecture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3806825" y="3322955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4885055" y="3414395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Prototyping &amp; Testing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3806825" y="4220845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4885055" y="4312285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&amp; Interaction Design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3806825" y="5107305"/>
            <a:ext cx="84709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4885055" y="5198745"/>
            <a:ext cx="378460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 of UI/UX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146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5158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152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731645" y="202565"/>
            <a:ext cx="337185" cy="3371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440CACB-2360-82C3-887E-28F10526B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B80C4494-D943-623E-CDFD-A1D8AF06B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" y="1016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Defining UI vs. UX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04900" y="1625600"/>
            <a:ext cx="998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Clarifying the distinction between the visual touchpoints and the complete journey.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6316" y="2387600"/>
            <a:ext cx="4673600" cy="2743200"/>
          </a:xfrm>
          <a:custGeom>
            <a:avLst/>
            <a:gdLst/>
            <a:ahLst/>
            <a:cxnLst/>
            <a:rect l="l" t="t" r="r" b="b"/>
            <a:pathLst>
              <a:path w="4673600" h="2743200">
                <a:moveTo>
                  <a:pt x="152412" y="0"/>
                </a:moveTo>
                <a:lnTo>
                  <a:pt x="4521188" y="0"/>
                </a:lnTo>
                <a:cubicBezTo>
                  <a:pt x="4605363" y="0"/>
                  <a:pt x="4673600" y="68237"/>
                  <a:pt x="4673600" y="152412"/>
                </a:cubicBezTo>
                <a:lnTo>
                  <a:pt x="4673600" y="2590788"/>
                </a:lnTo>
                <a:cubicBezTo>
                  <a:pt x="4673600" y="2674963"/>
                  <a:pt x="4605363" y="2743200"/>
                  <a:pt x="45211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1116" y="269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22241" y="2819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373" y="5110"/>
                </a:moveTo>
                <a:lnTo>
                  <a:pt x="128538" y="78383"/>
                </a:lnTo>
                <a:cubicBezTo>
                  <a:pt x="114102" y="88007"/>
                  <a:pt x="104924" y="103634"/>
                  <a:pt x="103436" y="120700"/>
                </a:cubicBezTo>
                <a:cubicBezTo>
                  <a:pt x="134342" y="127050"/>
                  <a:pt x="158700" y="151408"/>
                  <a:pt x="165100" y="182364"/>
                </a:cubicBezTo>
                <a:cubicBezTo>
                  <a:pt x="182215" y="180876"/>
                  <a:pt x="197793" y="171698"/>
                  <a:pt x="207417" y="157262"/>
                </a:cubicBezTo>
                <a:lnTo>
                  <a:pt x="280640" y="47377"/>
                </a:lnTo>
                <a:cubicBezTo>
                  <a:pt x="283964" y="42366"/>
                  <a:pt x="285750" y="36513"/>
                  <a:pt x="285750" y="30460"/>
                </a:cubicBezTo>
                <a:cubicBezTo>
                  <a:pt x="285750" y="13643"/>
                  <a:pt x="272107" y="0"/>
                  <a:pt x="255290" y="0"/>
                </a:cubicBezTo>
                <a:cubicBezTo>
                  <a:pt x="249287" y="0"/>
                  <a:pt x="243384" y="1786"/>
                  <a:pt x="238373" y="5110"/>
                </a:cubicBezTo>
                <a:close/>
                <a:moveTo>
                  <a:pt x="142875" y="198438"/>
                </a:moveTo>
                <a:cubicBezTo>
                  <a:pt x="142875" y="167729"/>
                  <a:pt x="118021" y="142875"/>
                  <a:pt x="87313" y="142875"/>
                </a:cubicBezTo>
                <a:cubicBezTo>
                  <a:pt x="56604" y="142875"/>
                  <a:pt x="31750" y="167729"/>
                  <a:pt x="31750" y="198438"/>
                </a:cubicBezTo>
                <a:cubicBezTo>
                  <a:pt x="31750" y="200372"/>
                  <a:pt x="31849" y="202307"/>
                  <a:pt x="32048" y="204192"/>
                </a:cubicBezTo>
                <a:cubicBezTo>
                  <a:pt x="32941" y="212874"/>
                  <a:pt x="26987" y="222250"/>
                  <a:pt x="18256" y="222250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87313" y="254000"/>
                </a:lnTo>
                <a:cubicBezTo>
                  <a:pt x="118021" y="254000"/>
                  <a:pt x="142875" y="229146"/>
                  <a:pt x="142875" y="198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22316" y="2743200"/>
            <a:ext cx="2933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Interface (UI)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1116" y="33528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Focuses on the visual elements: the look, feel, and interactivity. It includes screen layouts, visual design, and transitions.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11116" y="4318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 Create an aesthetically pleasing and intuitive interface.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4716" y="2387600"/>
            <a:ext cx="228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C2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12084" y="2387600"/>
            <a:ext cx="4673600" cy="2743200"/>
          </a:xfrm>
          <a:custGeom>
            <a:avLst/>
            <a:gdLst/>
            <a:ahLst/>
            <a:cxnLst/>
            <a:rect l="l" t="t" r="r" b="b"/>
            <a:pathLst>
              <a:path w="4673600" h="2743200">
                <a:moveTo>
                  <a:pt x="152412" y="0"/>
                </a:moveTo>
                <a:lnTo>
                  <a:pt x="4521188" y="0"/>
                </a:lnTo>
                <a:cubicBezTo>
                  <a:pt x="4605363" y="0"/>
                  <a:pt x="4673600" y="68237"/>
                  <a:pt x="4673600" y="152412"/>
                </a:cubicBezTo>
                <a:lnTo>
                  <a:pt x="4673600" y="2590788"/>
                </a:lnTo>
                <a:cubicBezTo>
                  <a:pt x="4673600" y="2674963"/>
                  <a:pt x="4605363" y="2743200"/>
                  <a:pt x="45211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6884" y="269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3884" y="281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28084" y="2743200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Experience (UX)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6884" y="33528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Encompasses the end-user's entire interaction with a product or service. It's about the overall experience and journey.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6884" y="4318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 Make a product useful, usable, and enjoyable.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" y="5537200"/>
            <a:ext cx="1188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Together, they create products that are both </a:t>
            </a:r>
            <a:r>
              <a:rPr lang="en-US" sz="1600" b="1" dirty="0">
                <a:solidFill>
                  <a:srgbClr val="333333"/>
                </a:solidFill>
                <a:highlight>
                  <a:srgbClr val="FFC2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beautiful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</a:t>
            </a:r>
            <a:r>
              <a:rPr lang="en-US" sz="1600" b="1" dirty="0">
                <a:solidFill>
                  <a:srgbClr val="333333"/>
                </a:solidFill>
                <a:highlight>
                  <a:srgbClr val="FFC2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functional </a:t>
            </a: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DB792143-2891-9851-4966-5553A3622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B5F229D-B369-66E5-F2E7-790677E6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" y="1371759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Human-Centered Design Cycle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82959"/>
            <a:ext cx="1168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process that starts with the people you're designing for and ends with new solutions that are tailor-made to suit their needs.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3688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EE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6238" y="4203700"/>
            <a:ext cx="238125" cy="381000"/>
          </a:xfrm>
          <a:custGeom>
            <a:avLst/>
            <a:gdLst/>
            <a:ahLst/>
            <a:cxnLst/>
            <a:rect l="l" t="t" r="r" b="b"/>
            <a:pathLst>
              <a:path w="238125" h="381000">
                <a:moveTo>
                  <a:pt x="231502" y="173682"/>
                </a:moveTo>
                <a:cubicBezTo>
                  <a:pt x="240804" y="182984"/>
                  <a:pt x="240804" y="198090"/>
                  <a:pt x="231502" y="207392"/>
                </a:cubicBezTo>
                <a:lnTo>
                  <a:pt x="88627" y="350267"/>
                </a:lnTo>
                <a:cubicBezTo>
                  <a:pt x="79325" y="359569"/>
                  <a:pt x="64219" y="359569"/>
                  <a:pt x="54918" y="350267"/>
                </a:cubicBezTo>
                <a:cubicBezTo>
                  <a:pt x="45616" y="340965"/>
                  <a:pt x="45616" y="325859"/>
                  <a:pt x="54918" y="316557"/>
                </a:cubicBezTo>
                <a:lnTo>
                  <a:pt x="180975" y="190500"/>
                </a:lnTo>
                <a:lnTo>
                  <a:pt x="54992" y="64443"/>
                </a:lnTo>
                <a:cubicBezTo>
                  <a:pt x="45690" y="55141"/>
                  <a:pt x="45690" y="40035"/>
                  <a:pt x="54992" y="30733"/>
                </a:cubicBezTo>
                <a:cubicBezTo>
                  <a:pt x="64294" y="21431"/>
                  <a:pt x="79400" y="21431"/>
                  <a:pt x="88702" y="30733"/>
                </a:cubicBezTo>
                <a:lnTo>
                  <a:pt x="231577" y="17360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80113" y="4203700"/>
            <a:ext cx="238125" cy="381000"/>
          </a:xfrm>
          <a:custGeom>
            <a:avLst/>
            <a:gdLst/>
            <a:ahLst/>
            <a:cxnLst/>
            <a:rect l="l" t="t" r="r" b="b"/>
            <a:pathLst>
              <a:path w="238125" h="381000">
                <a:moveTo>
                  <a:pt x="231502" y="173682"/>
                </a:moveTo>
                <a:cubicBezTo>
                  <a:pt x="240804" y="182984"/>
                  <a:pt x="240804" y="198090"/>
                  <a:pt x="231502" y="207392"/>
                </a:cubicBezTo>
                <a:lnTo>
                  <a:pt x="88627" y="350267"/>
                </a:lnTo>
                <a:cubicBezTo>
                  <a:pt x="79325" y="359569"/>
                  <a:pt x="64219" y="359569"/>
                  <a:pt x="54918" y="350267"/>
                </a:cubicBezTo>
                <a:cubicBezTo>
                  <a:pt x="45616" y="340965"/>
                  <a:pt x="45616" y="325859"/>
                  <a:pt x="54918" y="316557"/>
                </a:cubicBezTo>
                <a:lnTo>
                  <a:pt x="180975" y="190500"/>
                </a:lnTo>
                <a:lnTo>
                  <a:pt x="54992" y="64443"/>
                </a:lnTo>
                <a:cubicBezTo>
                  <a:pt x="45690" y="55141"/>
                  <a:pt x="45690" y="40035"/>
                  <a:pt x="54992" y="30733"/>
                </a:cubicBezTo>
                <a:cubicBezTo>
                  <a:pt x="64294" y="21431"/>
                  <a:pt x="79400" y="21431"/>
                  <a:pt x="88702" y="30733"/>
                </a:cubicBezTo>
                <a:lnTo>
                  <a:pt x="231577" y="17360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83988" y="4203700"/>
            <a:ext cx="238125" cy="381000"/>
          </a:xfrm>
          <a:custGeom>
            <a:avLst/>
            <a:gdLst/>
            <a:ahLst/>
            <a:cxnLst/>
            <a:rect l="l" t="t" r="r" b="b"/>
            <a:pathLst>
              <a:path w="238125" h="381000">
                <a:moveTo>
                  <a:pt x="231502" y="173682"/>
                </a:moveTo>
                <a:cubicBezTo>
                  <a:pt x="240804" y="182984"/>
                  <a:pt x="240804" y="198090"/>
                  <a:pt x="231502" y="207392"/>
                </a:cubicBezTo>
                <a:lnTo>
                  <a:pt x="88627" y="350267"/>
                </a:lnTo>
                <a:cubicBezTo>
                  <a:pt x="79325" y="359569"/>
                  <a:pt x="64219" y="359569"/>
                  <a:pt x="54918" y="350267"/>
                </a:cubicBezTo>
                <a:cubicBezTo>
                  <a:pt x="45616" y="340965"/>
                  <a:pt x="45616" y="325859"/>
                  <a:pt x="54918" y="316557"/>
                </a:cubicBezTo>
                <a:lnTo>
                  <a:pt x="180975" y="190500"/>
                </a:lnTo>
                <a:lnTo>
                  <a:pt x="54992" y="64443"/>
                </a:lnTo>
                <a:cubicBezTo>
                  <a:pt x="45690" y="55141"/>
                  <a:pt x="45690" y="40035"/>
                  <a:pt x="54992" y="30733"/>
                </a:cubicBezTo>
                <a:cubicBezTo>
                  <a:pt x="64294" y="21431"/>
                  <a:pt x="79400" y="21431"/>
                  <a:pt x="88702" y="30733"/>
                </a:cubicBezTo>
                <a:lnTo>
                  <a:pt x="231577" y="173608"/>
                </a:ln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85900" y="3302159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AEE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09750" y="3683159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0341" y="467375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Empathize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080159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 the needs and context of the people you are designing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52900" y="3302159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1050" y="368315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311" y="4673759"/>
            <a:ext cx="99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5080159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a wide range of creative solutions to address user needs.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19900" y="3302159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C200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00900" y="3683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8672" y="228689"/>
                </a:moveTo>
                <a:lnTo>
                  <a:pt x="150644" y="121622"/>
                </a:lnTo>
                <a:cubicBezTo>
                  <a:pt x="145643" y="110728"/>
                  <a:pt x="142786" y="98584"/>
                  <a:pt x="142786" y="85725"/>
                </a:cubicBezTo>
                <a:cubicBezTo>
                  <a:pt x="142786" y="38398"/>
                  <a:pt x="181183" y="0"/>
                  <a:pt x="228511" y="0"/>
                </a:cubicBezTo>
                <a:cubicBezTo>
                  <a:pt x="275838" y="0"/>
                  <a:pt x="314236" y="38398"/>
                  <a:pt x="314236" y="85725"/>
                </a:cubicBezTo>
                <a:cubicBezTo>
                  <a:pt x="314236" y="98494"/>
                  <a:pt x="311467" y="110639"/>
                  <a:pt x="306378" y="121622"/>
                </a:cubicBezTo>
                <a:lnTo>
                  <a:pt x="346025" y="190113"/>
                </a:lnTo>
                <a:cubicBezTo>
                  <a:pt x="325398" y="213330"/>
                  <a:pt x="298073" y="230386"/>
                  <a:pt x="267087" y="238155"/>
                </a:cubicBezTo>
                <a:lnTo>
                  <a:pt x="228600" y="171361"/>
                </a:lnTo>
                <a:lnTo>
                  <a:pt x="167789" y="276374"/>
                </a:lnTo>
                <a:cubicBezTo>
                  <a:pt x="186988" y="282446"/>
                  <a:pt x="207347" y="285750"/>
                  <a:pt x="228600" y="285750"/>
                </a:cubicBezTo>
                <a:cubicBezTo>
                  <a:pt x="291733" y="285750"/>
                  <a:pt x="348079" y="256550"/>
                  <a:pt x="384780" y="210741"/>
                </a:cubicBezTo>
                <a:cubicBezTo>
                  <a:pt x="394692" y="198418"/>
                  <a:pt x="412641" y="196453"/>
                  <a:pt x="424964" y="206276"/>
                </a:cubicBezTo>
                <a:cubicBezTo>
                  <a:pt x="437287" y="216098"/>
                  <a:pt x="439251" y="234136"/>
                  <a:pt x="429429" y="246459"/>
                </a:cubicBezTo>
                <a:cubicBezTo>
                  <a:pt x="382369" y="305217"/>
                  <a:pt x="309860" y="342900"/>
                  <a:pt x="228689" y="342900"/>
                </a:cubicBezTo>
                <a:cubicBezTo>
                  <a:pt x="197078" y="342900"/>
                  <a:pt x="166717" y="337185"/>
                  <a:pt x="138767" y="326737"/>
                </a:cubicBezTo>
                <a:lnTo>
                  <a:pt x="88136" y="414070"/>
                </a:lnTo>
                <a:cubicBezTo>
                  <a:pt x="83939" y="421303"/>
                  <a:pt x="77688" y="427196"/>
                  <a:pt x="70187" y="430947"/>
                </a:cubicBezTo>
                <a:lnTo>
                  <a:pt x="20717" y="455682"/>
                </a:lnTo>
                <a:cubicBezTo>
                  <a:pt x="16252" y="457914"/>
                  <a:pt x="10984" y="457646"/>
                  <a:pt x="6787" y="455057"/>
                </a:cubicBezTo>
                <a:cubicBezTo>
                  <a:pt x="2590" y="452467"/>
                  <a:pt x="0" y="447824"/>
                  <a:pt x="0" y="442913"/>
                </a:cubicBezTo>
                <a:lnTo>
                  <a:pt x="0" y="393442"/>
                </a:lnTo>
                <a:cubicBezTo>
                  <a:pt x="0" y="385941"/>
                  <a:pt x="1965" y="378529"/>
                  <a:pt x="5804" y="371921"/>
                </a:cubicBezTo>
                <a:lnTo>
                  <a:pt x="59382" y="279321"/>
                </a:lnTo>
                <a:cubicBezTo>
                  <a:pt x="47952" y="269319"/>
                  <a:pt x="37415" y="258336"/>
                  <a:pt x="27861" y="246459"/>
                </a:cubicBezTo>
                <a:cubicBezTo>
                  <a:pt x="17949" y="234136"/>
                  <a:pt x="20003" y="216188"/>
                  <a:pt x="32325" y="206276"/>
                </a:cubicBezTo>
                <a:cubicBezTo>
                  <a:pt x="44648" y="196364"/>
                  <a:pt x="62597" y="198418"/>
                  <a:pt x="72509" y="210741"/>
                </a:cubicBezTo>
                <a:cubicBezTo>
                  <a:pt x="77599" y="217081"/>
                  <a:pt x="83046" y="223064"/>
                  <a:pt x="88761" y="228689"/>
                </a:cubicBezTo>
                <a:close/>
                <a:moveTo>
                  <a:pt x="340310" y="364242"/>
                </a:moveTo>
                <a:cubicBezTo>
                  <a:pt x="369332" y="352633"/>
                  <a:pt x="396032" y="336560"/>
                  <a:pt x="419695" y="317004"/>
                </a:cubicBezTo>
                <a:lnTo>
                  <a:pt x="451485" y="371921"/>
                </a:lnTo>
                <a:cubicBezTo>
                  <a:pt x="455235" y="378440"/>
                  <a:pt x="457289" y="385852"/>
                  <a:pt x="457289" y="393442"/>
                </a:cubicBezTo>
                <a:lnTo>
                  <a:pt x="457289" y="442913"/>
                </a:lnTo>
                <a:cubicBezTo>
                  <a:pt x="457289" y="447824"/>
                  <a:pt x="454700" y="452467"/>
                  <a:pt x="450503" y="455057"/>
                </a:cubicBezTo>
                <a:cubicBezTo>
                  <a:pt x="446306" y="457646"/>
                  <a:pt x="441037" y="457914"/>
                  <a:pt x="436572" y="455682"/>
                </a:cubicBezTo>
                <a:lnTo>
                  <a:pt x="387102" y="430947"/>
                </a:lnTo>
                <a:cubicBezTo>
                  <a:pt x="379601" y="427196"/>
                  <a:pt x="373350" y="421303"/>
                  <a:pt x="369153" y="414070"/>
                </a:cubicBezTo>
                <a:lnTo>
                  <a:pt x="340310" y="364242"/>
                </a:lnTo>
                <a:close/>
                <a:moveTo>
                  <a:pt x="228600" y="114300"/>
                </a:moveTo>
                <a:cubicBezTo>
                  <a:pt x="244371" y="114300"/>
                  <a:pt x="257175" y="101496"/>
                  <a:pt x="257175" y="85725"/>
                </a:cubicBez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1356" y="4673759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0" y="5080159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Clearly articulate the problem you are trying to solve based on insights.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86900" y="3302159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5E5E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67900" y="3683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5931" y="8394"/>
                </a:moveTo>
                <a:cubicBezTo>
                  <a:pt x="294769" y="-2768"/>
                  <a:pt x="276642" y="-2768"/>
                  <a:pt x="265480" y="8394"/>
                </a:cubicBezTo>
                <a:cubicBezTo>
                  <a:pt x="254318" y="19556"/>
                  <a:pt x="254318" y="37683"/>
                  <a:pt x="265480" y="48845"/>
                </a:cubicBezTo>
                <a:lnTo>
                  <a:pt x="273874" y="57150"/>
                </a:lnTo>
                <a:lnTo>
                  <a:pt x="25092" y="305931"/>
                </a:lnTo>
                <a:cubicBezTo>
                  <a:pt x="9019" y="322005"/>
                  <a:pt x="0" y="343793"/>
                  <a:pt x="0" y="366564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90636" y="457200"/>
                </a:lnTo>
                <a:cubicBezTo>
                  <a:pt x="113407" y="457200"/>
                  <a:pt x="135195" y="448181"/>
                  <a:pt x="151269" y="432108"/>
                </a:cubicBezTo>
                <a:lnTo>
                  <a:pt x="400050" y="183326"/>
                </a:lnTo>
                <a:lnTo>
                  <a:pt x="408444" y="191720"/>
                </a:lnTo>
                <a:cubicBezTo>
                  <a:pt x="419606" y="202882"/>
                  <a:pt x="437733" y="202882"/>
                  <a:pt x="448895" y="191720"/>
                </a:cubicBezTo>
                <a:cubicBezTo>
                  <a:pt x="460058" y="180558"/>
                  <a:pt x="460058" y="162431"/>
                  <a:pt x="448895" y="151269"/>
                </a:cubicBezTo>
                <a:lnTo>
                  <a:pt x="306020" y="8394"/>
                </a:lnTo>
                <a:close/>
                <a:moveTo>
                  <a:pt x="183326" y="228600"/>
                </a:moveTo>
                <a:lnTo>
                  <a:pt x="314325" y="97601"/>
                </a:lnTo>
                <a:lnTo>
                  <a:pt x="359599" y="142875"/>
                </a:lnTo>
                <a:lnTo>
                  <a:pt x="273874" y="228600"/>
                </a:lnTo>
                <a:lnTo>
                  <a:pt x="183237" y="2286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35356" y="4673759"/>
            <a:ext cx="77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5080159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Gather feedback by testing prototypes with real users to refine the solution.</a:t>
            </a:r>
            <a:endParaRPr lang="en-US" sz="1600" dirty="0"/>
          </a:p>
        </p:txBody>
      </p:sp>
      <p:pic>
        <p:nvPicPr>
          <p:cNvPr id="24" name="Picture 5">
            <a:extLst>
              <a:ext uri="{FF2B5EF4-FFF2-40B4-BE49-F238E27FC236}">
                <a16:creationId xmlns:a16="http://schemas.microsoft.com/office/drawing/2014/main" id="{6CFF2122-63A5-AA7F-0204-B82DC2BFD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CDC853A-2668-7A71-52A4-939BF57A9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Psychology of Interaction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863600"/>
            <a:ext cx="1168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how users think is key to designing effective interfaces. Cognitive psychology governs interface clarity and user satisfaction.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879600"/>
            <a:ext cx="7721600" cy="2260600"/>
          </a:xfrm>
          <a:custGeom>
            <a:avLst/>
            <a:gdLst/>
            <a:ahLst/>
            <a:cxnLst/>
            <a:rect l="l" t="t" r="r" b="b"/>
            <a:pathLst>
              <a:path w="7721600" h="2260600">
                <a:moveTo>
                  <a:pt x="101591" y="0"/>
                </a:moveTo>
                <a:lnTo>
                  <a:pt x="7620009" y="0"/>
                </a:lnTo>
                <a:cubicBezTo>
                  <a:pt x="7676116" y="0"/>
                  <a:pt x="7721600" y="45484"/>
                  <a:pt x="7721600" y="101591"/>
                </a:cubicBezTo>
                <a:lnTo>
                  <a:pt x="7721600" y="2159009"/>
                </a:lnTo>
                <a:cubicBezTo>
                  <a:pt x="7721600" y="2215116"/>
                  <a:pt x="7676116" y="2260600"/>
                  <a:pt x="7620009" y="2260600"/>
                </a:cubicBezTo>
                <a:lnTo>
                  <a:pt x="101591" y="2260600"/>
                </a:lnTo>
                <a:cubicBezTo>
                  <a:pt x="45484" y="2260600"/>
                  <a:pt x="0" y="2215116"/>
                  <a:pt x="0" y="2159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150" y="2781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5055" y="2578100"/>
            <a:ext cx="692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Mental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5055" y="2933700"/>
            <a:ext cx="669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have preconceived notions of how things work. Design should align with these expectations to avoid confusion.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78800" y="1879600"/>
            <a:ext cx="3759200" cy="4724400"/>
          </a:xfrm>
          <a:custGeom>
            <a:avLst/>
            <a:gdLst/>
            <a:ahLst/>
            <a:cxnLst/>
            <a:rect l="l" t="t" r="r" b="b"/>
            <a:pathLst>
              <a:path w="3759200" h="4724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4622789"/>
                </a:lnTo>
                <a:cubicBezTo>
                  <a:pt x="3759200" y="4678907"/>
                  <a:pt x="3713707" y="4724400"/>
                  <a:pt x="3657589" y="4724400"/>
                </a:cubicBezTo>
                <a:lnTo>
                  <a:pt x="101611" y="4724400"/>
                </a:lnTo>
                <a:cubicBezTo>
                  <a:pt x="45493" y="4724400"/>
                  <a:pt x="0" y="4678907"/>
                  <a:pt x="0" y="4622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29800" y="312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18600" y="373380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Cognitive 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4089400"/>
            <a:ext cx="3352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Minimize the amount of mental effort required to use your product. Simplify tasks and present information clearly. Overloading users leads to frustration and errors.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343400"/>
            <a:ext cx="3759200" cy="2260600"/>
          </a:xfrm>
          <a:custGeom>
            <a:avLst/>
            <a:gdLst/>
            <a:ahLst/>
            <a:cxnLst/>
            <a:rect l="l" t="t" r="r" b="b"/>
            <a:pathLst>
              <a:path w="3759200" h="2260600">
                <a:moveTo>
                  <a:pt x="101591" y="0"/>
                </a:moveTo>
                <a:lnTo>
                  <a:pt x="3657609" y="0"/>
                </a:lnTo>
                <a:cubicBezTo>
                  <a:pt x="3713716" y="0"/>
                  <a:pt x="3759200" y="45484"/>
                  <a:pt x="3759200" y="101591"/>
                </a:cubicBezTo>
                <a:lnTo>
                  <a:pt x="3759200" y="2159009"/>
                </a:lnTo>
                <a:cubicBezTo>
                  <a:pt x="3759200" y="2215116"/>
                  <a:pt x="3713716" y="2260600"/>
                  <a:pt x="3657609" y="2260600"/>
                </a:cubicBezTo>
                <a:lnTo>
                  <a:pt x="101591" y="2260600"/>
                </a:lnTo>
                <a:cubicBezTo>
                  <a:pt x="45484" y="2260600"/>
                  <a:pt x="0" y="2215116"/>
                  <a:pt x="0" y="2159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400" y="5245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128588"/>
                </a:moveTo>
                <a:cubicBezTo>
                  <a:pt x="66519" y="128588"/>
                  <a:pt x="85725" y="109381"/>
                  <a:pt x="85725" y="85725"/>
                </a:cubicBezTo>
                <a:cubicBezTo>
                  <a:pt x="85725" y="62069"/>
                  <a:pt x="66519" y="42863"/>
                  <a:pt x="42863" y="42863"/>
                </a:cubicBezTo>
                <a:cubicBezTo>
                  <a:pt x="19206" y="42863"/>
                  <a:pt x="0" y="62069"/>
                  <a:pt x="0" y="85725"/>
                </a:cubicBezTo>
                <a:cubicBezTo>
                  <a:pt x="0" y="109381"/>
                  <a:pt x="19206" y="128588"/>
                  <a:pt x="42862" y="128588"/>
                </a:cubicBezTo>
                <a:close/>
                <a:moveTo>
                  <a:pt x="171450" y="57150"/>
                </a:moveTo>
                <a:cubicBezTo>
                  <a:pt x="155644" y="57150"/>
                  <a:pt x="142875" y="69919"/>
                  <a:pt x="142875" y="85725"/>
                </a:cubicBezTo>
                <a:cubicBezTo>
                  <a:pt x="142875" y="101531"/>
                  <a:pt x="155644" y="114300"/>
                  <a:pt x="171450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171450" y="57150"/>
                </a:lnTo>
                <a:close/>
                <a:moveTo>
                  <a:pt x="171450" y="200025"/>
                </a:moveTo>
                <a:cubicBezTo>
                  <a:pt x="155644" y="200025"/>
                  <a:pt x="142875" y="212794"/>
                  <a:pt x="142875" y="228600"/>
                </a:cubicBezTo>
                <a:cubicBezTo>
                  <a:pt x="142875" y="244406"/>
                  <a:pt x="155644" y="257175"/>
                  <a:pt x="17145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171450" y="200025"/>
                </a:lnTo>
                <a:close/>
                <a:moveTo>
                  <a:pt x="171450" y="342900"/>
                </a:moveTo>
                <a:cubicBezTo>
                  <a:pt x="155644" y="342900"/>
                  <a:pt x="142875" y="355669"/>
                  <a:pt x="142875" y="371475"/>
                </a:cubicBezTo>
                <a:cubicBezTo>
                  <a:pt x="142875" y="387281"/>
                  <a:pt x="155644" y="400050"/>
                  <a:pt x="17145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171450" y="342900"/>
                </a:lnTo>
                <a:close/>
                <a:moveTo>
                  <a:pt x="42863" y="414338"/>
                </a:moveTo>
                <a:cubicBezTo>
                  <a:pt x="66519" y="414338"/>
                  <a:pt x="85725" y="395131"/>
                  <a:pt x="85725" y="371475"/>
                </a:cubicBezTo>
                <a:cubicBezTo>
                  <a:pt x="85725" y="347819"/>
                  <a:pt x="66519" y="328613"/>
                  <a:pt x="42863" y="328613"/>
                </a:cubicBezTo>
                <a:cubicBezTo>
                  <a:pt x="19206" y="328613"/>
                  <a:pt x="0" y="347819"/>
                  <a:pt x="0" y="371475"/>
                </a:cubicBezTo>
                <a:cubicBezTo>
                  <a:pt x="0" y="395131"/>
                  <a:pt x="19206" y="414338"/>
                  <a:pt x="42862" y="414338"/>
                </a:cubicBezTo>
                <a:close/>
                <a:moveTo>
                  <a:pt x="85725" y="228600"/>
                </a:moveTo>
                <a:cubicBezTo>
                  <a:pt x="85725" y="204944"/>
                  <a:pt x="66519" y="185738"/>
                  <a:pt x="42863" y="185738"/>
                </a:cubicBezTo>
                <a:cubicBezTo>
                  <a:pt x="19206" y="185738"/>
                  <a:pt x="0" y="204944"/>
                  <a:pt x="0" y="228600"/>
                </a:cubicBezTo>
                <a:cubicBezTo>
                  <a:pt x="0" y="252256"/>
                  <a:pt x="19206" y="271463"/>
                  <a:pt x="42863" y="271463"/>
                </a:cubicBezTo>
                <a:cubicBezTo>
                  <a:pt x="66519" y="271463"/>
                  <a:pt x="85725" y="252256"/>
                  <a:pt x="85725" y="22860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159" y="5041900"/>
            <a:ext cx="302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Hick's Law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159" y="53975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choices increase decision time. Keep options focused.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6400" y="4343400"/>
            <a:ext cx="3759200" cy="2260600"/>
          </a:xfrm>
          <a:custGeom>
            <a:avLst/>
            <a:gdLst/>
            <a:ahLst/>
            <a:cxnLst/>
            <a:rect l="l" t="t" r="r" b="b"/>
            <a:pathLst>
              <a:path w="3759200" h="2260600">
                <a:moveTo>
                  <a:pt x="101591" y="0"/>
                </a:moveTo>
                <a:lnTo>
                  <a:pt x="3657609" y="0"/>
                </a:lnTo>
                <a:cubicBezTo>
                  <a:pt x="3713716" y="0"/>
                  <a:pt x="3759200" y="45484"/>
                  <a:pt x="3759200" y="101591"/>
                </a:cubicBezTo>
                <a:lnTo>
                  <a:pt x="3759200" y="2159009"/>
                </a:lnTo>
                <a:cubicBezTo>
                  <a:pt x="3759200" y="2215116"/>
                  <a:pt x="3713716" y="2260600"/>
                  <a:pt x="3657609" y="2260600"/>
                </a:cubicBezTo>
                <a:lnTo>
                  <a:pt x="101591" y="2260600"/>
                </a:lnTo>
                <a:cubicBezTo>
                  <a:pt x="45484" y="2260600"/>
                  <a:pt x="0" y="2215116"/>
                  <a:pt x="0" y="2159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1500" y="5245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8880" y="5041900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Gestalt Principles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08880" y="53975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proximity, similarity, and closure to organize UI.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&amp; Empathy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02</a:t>
            </a: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099743CA-F19A-A575-FCA4-3C9109BE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09BA565B-AFD6-2A92-D67D-032EE49B8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Research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65200"/>
            <a:ext cx="975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Cataloging techniques to ensure design decisions are grounded in evidence, not opinion. Triangulation of data validates assumptions.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981200"/>
            <a:ext cx="5689600" cy="3834063"/>
          </a:xfrm>
          <a:custGeom>
            <a:avLst/>
            <a:gdLst/>
            <a:ahLst/>
            <a:cxnLst/>
            <a:rect l="l" t="t" r="r" b="b"/>
            <a:pathLst>
              <a:path w="5689600" h="46228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521191"/>
                </a:lnTo>
                <a:cubicBezTo>
                  <a:pt x="5689600" y="4577308"/>
                  <a:pt x="5644108" y="4622800"/>
                  <a:pt x="5587991" y="4622800"/>
                </a:cubicBezTo>
                <a:lnTo>
                  <a:pt x="101609" y="4622800"/>
                </a:lnTo>
                <a:cubicBezTo>
                  <a:pt x="45492" y="4622800"/>
                  <a:pt x="0" y="4577308"/>
                  <a:pt x="0" y="45211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6900" y="23366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2200" y="2286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Quantitative 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2895442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 "what," "where," and "how much" to quantify user behavior and spot patterns.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2450" y="36574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8357" y="3606642"/>
            <a:ext cx="4813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Surveys: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Gather broad feedback on attitudes and satisfaction from large groups.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150" y="4317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5345" y="4267042"/>
            <a:ext cx="4787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Track user behavior, conversion rates, and feature usage.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" y="4978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4707" y="4927442"/>
            <a:ext cx="480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A/B Testing: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Compare two versions of a design to see which performs better.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1981200"/>
            <a:ext cx="5689600" cy="3834063"/>
          </a:xfrm>
          <a:custGeom>
            <a:avLst/>
            <a:gdLst/>
            <a:ahLst/>
            <a:cxnLst/>
            <a:rect l="l" t="t" r="r" b="b"/>
            <a:pathLst>
              <a:path w="5689600" h="46228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521191"/>
                </a:lnTo>
                <a:cubicBezTo>
                  <a:pt x="5689600" y="4577308"/>
                  <a:pt x="5644108" y="4622800"/>
                  <a:pt x="5587991" y="4622800"/>
                </a:cubicBezTo>
                <a:lnTo>
                  <a:pt x="101609" y="4622800"/>
                </a:lnTo>
                <a:cubicBezTo>
                  <a:pt x="45492" y="4622800"/>
                  <a:pt x="0" y="4577308"/>
                  <a:pt x="0" y="45211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72250" y="2336642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22860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Qualitative Methods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200" y="2895442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 "why" and "how" to uncover user motivations, pain points, and mental models.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3200" y="36574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8472" y="3606642"/>
            <a:ext cx="480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Interviews: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Gain deep insights into user experiences, needs, and frustrations.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40500" y="4317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8470" y="4267042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Contextual Inquiry: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Observe users in their natural environment to see real-world usage.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9550" y="4978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9427" y="4927442"/>
            <a:ext cx="4787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Card Sorting: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Understand how users categorize information to inform IA.</a:t>
            </a:r>
            <a:endParaRPr lang="en-US" sz="1600" dirty="0"/>
          </a:p>
        </p:txBody>
      </p:sp>
      <p:pic>
        <p:nvPicPr>
          <p:cNvPr id="24" name="Picture 5">
            <a:extLst>
              <a:ext uri="{FF2B5EF4-FFF2-40B4-BE49-F238E27FC236}">
                <a16:creationId xmlns:a16="http://schemas.microsoft.com/office/drawing/2014/main" id="{299B800B-3E78-6170-AD4A-EAA94793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1CEEEB8-1553-AC1F-984D-9C00F20B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711200"/>
            <a:ext cx="5626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Creating Data-Driven Personas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30400"/>
            <a:ext cx="56261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Synthesize field data into archetypal personas. These fictional, yet research-based profiles align product requirements and prioritize features.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000" y="33020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3302000"/>
            <a:ext cx="511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&amp; Data Collection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3606800"/>
            <a:ext cx="491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Gather data from interviews, surveys, and analytics to find patterns in user behavior and demographics.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000" y="43180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200" y="4318000"/>
            <a:ext cx="511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 Behavioral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4622800"/>
            <a:ext cx="491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users with similar goals, needs, and behaviors to form the basis of each persona.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000" y="53340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" y="5334000"/>
            <a:ext cx="511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Persona Profiles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5638800"/>
            <a:ext cx="491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Give each persona a name, photo, and a detailed narrative that highlights their goals, frustrations, and context.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8088" y="1016000"/>
            <a:ext cx="5651500" cy="4826000"/>
          </a:xfrm>
          <a:custGeom>
            <a:avLst/>
            <a:gdLst/>
            <a:ahLst/>
            <a:cxnLst/>
            <a:rect l="l" t="t" r="r" b="b"/>
            <a:pathLst>
              <a:path w="5651500" h="4826000">
                <a:moveTo>
                  <a:pt x="152405" y="0"/>
                </a:moveTo>
                <a:lnTo>
                  <a:pt x="5499095" y="0"/>
                </a:lnTo>
                <a:cubicBezTo>
                  <a:pt x="5583266" y="0"/>
                  <a:pt x="5651500" y="68234"/>
                  <a:pt x="5651500" y="152405"/>
                </a:cubicBezTo>
                <a:lnTo>
                  <a:pt x="5651500" y="4673595"/>
                </a:lnTo>
                <a:cubicBezTo>
                  <a:pt x="5651500" y="4757766"/>
                  <a:pt x="5583266" y="4826000"/>
                  <a:pt x="5499095" y="4826000"/>
                </a:cubicBezTo>
                <a:lnTo>
                  <a:pt x="152405" y="4826000"/>
                </a:lnTo>
                <a:cubicBezTo>
                  <a:pt x="68234" y="4826000"/>
                  <a:pt x="0" y="4757766"/>
                  <a:pt x="0" y="46735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92888" y="1905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https://kimi-web-img.moonshot.cn/img/images.ichacha.net/19b4fe0accc8e77a1abd01186b100de5cb1b786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43688" y="1955800"/>
            <a:ext cx="914400" cy="914400"/>
          </a:xfrm>
          <a:prstGeom prst="roundRect">
            <a:avLst>
              <a:gd name="adj" fmla="val 50000"/>
            </a:avLst>
          </a:prstGeom>
        </p:spPr>
      </p:pic>
      <p:sp>
        <p:nvSpPr>
          <p:cNvPr id="19" name="Text 16"/>
          <p:cNvSpPr/>
          <p:nvPr/>
        </p:nvSpPr>
        <p:spPr>
          <a:xfrm>
            <a:off x="7812088" y="2082800"/>
            <a:ext cx="2679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Maria Rodriguez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12088" y="2489042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Busy Product Manager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92888" y="3124200"/>
            <a:ext cx="521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Quickly find key insights to inform product decisions.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92888" y="3479800"/>
            <a:ext cx="5041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Frustrations: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Clunky interfaces that slow her down. Data is hard to export.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92888" y="4089400"/>
            <a:ext cx="5041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Behaviors: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Uses mobile app during commute, desktop during the day. Values speed and reliability.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92888" y="4699000"/>
            <a:ext cx="521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Quote: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"I need tools that work as fast as I do."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Journey Mapping Pain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863600"/>
            <a:ext cx="1191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Visualize the end-to-end customer journey to reveal gaps and opportunities for thoughtful UI interventions.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386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080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75360" y="279415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29360" y="30481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7257" y="3708558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" y="4013358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searches for a solution to their problem.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4000" y="4724558"/>
            <a:ext cx="2260600" cy="609600"/>
          </a:xfrm>
          <a:custGeom>
            <a:avLst/>
            <a:gdLst/>
            <a:ahLst/>
            <a:cxnLst/>
            <a:rect l="l" t="t" r="r" b="b"/>
            <a:pathLst>
              <a:path w="2260600" h="609600">
                <a:moveTo>
                  <a:pt x="76200" y="0"/>
                </a:moveTo>
                <a:lnTo>
                  <a:pt x="2184400" y="0"/>
                </a:lnTo>
                <a:cubicBezTo>
                  <a:pt x="2226456" y="0"/>
                  <a:pt x="2260600" y="34144"/>
                  <a:pt x="2260600" y="76200"/>
                </a:cubicBezTo>
                <a:lnTo>
                  <a:pt x="2260600" y="533400"/>
                </a:lnTo>
                <a:cubicBezTo>
                  <a:pt x="2260600" y="575456"/>
                  <a:pt x="2226456" y="609600"/>
                  <a:pt x="2184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600" y="4826158"/>
            <a:ext cx="205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 Point: Overwhelmed by choices.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2480" y="279415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05530" y="304815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6018" y="1488"/>
                </a:moveTo>
                <a:cubicBezTo>
                  <a:pt x="50840" y="-952"/>
                  <a:pt x="56674" y="-417"/>
                  <a:pt x="60960" y="2858"/>
                </a:cubicBezTo>
                <a:lnTo>
                  <a:pt x="251460" y="145673"/>
                </a:lnTo>
                <a:cubicBezTo>
                  <a:pt x="256401" y="149364"/>
                  <a:pt x="258366" y="155793"/>
                  <a:pt x="256461" y="161627"/>
                </a:cubicBezTo>
                <a:cubicBezTo>
                  <a:pt x="254556" y="167461"/>
                  <a:pt x="249079" y="171390"/>
                  <a:pt x="242888" y="171390"/>
                </a:cubicBezTo>
                <a:lnTo>
                  <a:pt x="152221" y="171390"/>
                </a:lnTo>
                <a:lnTo>
                  <a:pt x="205145" y="277178"/>
                </a:lnTo>
                <a:cubicBezTo>
                  <a:pt x="209848" y="286583"/>
                  <a:pt x="206038" y="298013"/>
                  <a:pt x="196632" y="302716"/>
                </a:cubicBezTo>
                <a:cubicBezTo>
                  <a:pt x="187226" y="307419"/>
                  <a:pt x="175796" y="303609"/>
                  <a:pt x="171093" y="294203"/>
                </a:cubicBezTo>
                <a:lnTo>
                  <a:pt x="118170" y="188416"/>
                </a:lnTo>
                <a:lnTo>
                  <a:pt x="63817" y="260925"/>
                </a:lnTo>
                <a:cubicBezTo>
                  <a:pt x="60127" y="265867"/>
                  <a:pt x="53697" y="267831"/>
                  <a:pt x="47863" y="265926"/>
                </a:cubicBezTo>
                <a:cubicBezTo>
                  <a:pt x="42029" y="264021"/>
                  <a:pt x="38100" y="258544"/>
                  <a:pt x="38100" y="252413"/>
                </a:cubicBezTo>
                <a:lnTo>
                  <a:pt x="38100" y="14288"/>
                </a:lnTo>
                <a:cubicBezTo>
                  <a:pt x="38100" y="8870"/>
                  <a:pt x="41136" y="3929"/>
                  <a:pt x="46018" y="14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3749" y="3708558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11120" y="4013358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visits your site and browses products.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11120" y="4724558"/>
            <a:ext cx="2260600" cy="609600"/>
          </a:xfrm>
          <a:custGeom>
            <a:avLst/>
            <a:gdLst/>
            <a:ahLst/>
            <a:cxnLst/>
            <a:rect l="l" t="t" r="r" b="b"/>
            <a:pathLst>
              <a:path w="2260600" h="609600">
                <a:moveTo>
                  <a:pt x="76200" y="0"/>
                </a:moveTo>
                <a:lnTo>
                  <a:pt x="2184400" y="0"/>
                </a:lnTo>
                <a:cubicBezTo>
                  <a:pt x="2226456" y="0"/>
                  <a:pt x="2260600" y="34144"/>
                  <a:pt x="2260600" y="76200"/>
                </a:cubicBezTo>
                <a:lnTo>
                  <a:pt x="2260600" y="533400"/>
                </a:lnTo>
                <a:cubicBezTo>
                  <a:pt x="2260600" y="575456"/>
                  <a:pt x="2226456" y="609600"/>
                  <a:pt x="2184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12720" y="4826158"/>
            <a:ext cx="205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 Point: Can't find details.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89600" y="279415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05500" y="3048158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4288" y="-9525"/>
                </a:moveTo>
                <a:cubicBezTo>
                  <a:pt x="6370" y="-9525"/>
                  <a:pt x="0" y="-3155"/>
                  <a:pt x="0" y="4763"/>
                </a:cubicBezTo>
                <a:cubicBezTo>
                  <a:pt x="0" y="12680"/>
                  <a:pt x="6370" y="19050"/>
                  <a:pt x="14288" y="19050"/>
                </a:cubicBezTo>
                <a:lnTo>
                  <a:pt x="41255" y="19050"/>
                </a:lnTo>
                <a:cubicBezTo>
                  <a:pt x="43577" y="19050"/>
                  <a:pt x="45541" y="20717"/>
                  <a:pt x="45958" y="22979"/>
                </a:cubicBezTo>
                <a:lnTo>
                  <a:pt x="76974" y="193417"/>
                </a:lnTo>
                <a:cubicBezTo>
                  <a:pt x="80665" y="213777"/>
                  <a:pt x="98405" y="228600"/>
                  <a:pt x="119122" y="228600"/>
                </a:cubicBezTo>
                <a:lnTo>
                  <a:pt x="271463" y="228600"/>
                </a:lnTo>
                <a:cubicBezTo>
                  <a:pt x="279380" y="228600"/>
                  <a:pt x="285750" y="222230"/>
                  <a:pt x="285750" y="214313"/>
                </a:cubicBezTo>
                <a:cubicBezTo>
                  <a:pt x="285750" y="206395"/>
                  <a:pt x="279380" y="200025"/>
                  <a:pt x="271463" y="200025"/>
                </a:cubicBezTo>
                <a:lnTo>
                  <a:pt x="119122" y="200025"/>
                </a:lnTo>
                <a:cubicBezTo>
                  <a:pt x="112216" y="200025"/>
                  <a:pt x="106323" y="195084"/>
                  <a:pt x="105073" y="188297"/>
                </a:cubicBezTo>
                <a:lnTo>
                  <a:pt x="102037" y="171450"/>
                </a:lnTo>
                <a:lnTo>
                  <a:pt x="282773" y="171450"/>
                </a:lnTo>
                <a:cubicBezTo>
                  <a:pt x="301109" y="171450"/>
                  <a:pt x="316825" y="158413"/>
                  <a:pt x="320219" y="140375"/>
                </a:cubicBezTo>
                <a:lnTo>
                  <a:pt x="338673" y="41612"/>
                </a:lnTo>
                <a:cubicBezTo>
                  <a:pt x="340876" y="29885"/>
                  <a:pt x="331887" y="19050"/>
                  <a:pt x="319921" y="19050"/>
                </a:cubicBezTo>
                <a:lnTo>
                  <a:pt x="74235" y="19050"/>
                </a:lnTo>
                <a:lnTo>
                  <a:pt x="73997" y="17859"/>
                </a:lnTo>
                <a:cubicBezTo>
                  <a:pt x="71140" y="2024"/>
                  <a:pt x="57329" y="-9525"/>
                  <a:pt x="41196" y="-9525"/>
                </a:cubicBezTo>
                <a:lnTo>
                  <a:pt x="14288" y="-9525"/>
                </a:lnTo>
                <a:close/>
                <a:moveTo>
                  <a:pt x="123825" y="304800"/>
                </a:moveTo>
                <a:cubicBezTo>
                  <a:pt x="139596" y="304800"/>
                  <a:pt x="152400" y="291996"/>
                  <a:pt x="152400" y="276225"/>
                </a:cubicBezTo>
                <a:cubicBezTo>
                  <a:pt x="152400" y="260454"/>
                  <a:pt x="139596" y="247650"/>
                  <a:pt x="123825" y="247650"/>
                </a:cubicBezTo>
                <a:cubicBezTo>
                  <a:pt x="108054" y="247650"/>
                  <a:pt x="95250" y="260454"/>
                  <a:pt x="95250" y="276225"/>
                </a:cubicBezTo>
                <a:cubicBezTo>
                  <a:pt x="95250" y="291996"/>
                  <a:pt x="108054" y="304800"/>
                  <a:pt x="123825" y="304800"/>
                </a:cubicBezTo>
                <a:close/>
                <a:moveTo>
                  <a:pt x="257175" y="304800"/>
                </a:moveTo>
                <a:cubicBezTo>
                  <a:pt x="272946" y="304800"/>
                  <a:pt x="285750" y="291996"/>
                  <a:pt x="285750" y="276225"/>
                </a:cubicBezTo>
                <a:cubicBezTo>
                  <a:pt x="285750" y="260454"/>
                  <a:pt x="272946" y="247650"/>
                  <a:pt x="257175" y="247650"/>
                </a:cubicBezTo>
                <a:cubicBezTo>
                  <a:pt x="241404" y="247650"/>
                  <a:pt x="228600" y="260454"/>
                  <a:pt x="228600" y="276225"/>
                </a:cubicBezTo>
                <a:cubicBezTo>
                  <a:pt x="228600" y="291996"/>
                  <a:pt x="241404" y="304800"/>
                  <a:pt x="257175" y="304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06733" y="3708558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Purchase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68240" y="4013358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adds to cart and attempts checkout.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68240" y="4724558"/>
            <a:ext cx="2260600" cy="609600"/>
          </a:xfrm>
          <a:custGeom>
            <a:avLst/>
            <a:gdLst/>
            <a:ahLst/>
            <a:cxnLst/>
            <a:rect l="l" t="t" r="r" b="b"/>
            <a:pathLst>
              <a:path w="2260600" h="609600">
                <a:moveTo>
                  <a:pt x="76200" y="0"/>
                </a:moveTo>
                <a:lnTo>
                  <a:pt x="2184400" y="0"/>
                </a:lnTo>
                <a:cubicBezTo>
                  <a:pt x="2226456" y="0"/>
                  <a:pt x="2260600" y="34144"/>
                  <a:pt x="2260600" y="76200"/>
                </a:cubicBezTo>
                <a:lnTo>
                  <a:pt x="2260600" y="533400"/>
                </a:lnTo>
                <a:cubicBezTo>
                  <a:pt x="2260600" y="575456"/>
                  <a:pt x="2226456" y="609600"/>
                  <a:pt x="2184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5E5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69840" y="4826158"/>
            <a:ext cx="205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Pain Point: Checkout is too long.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289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19770" y="3149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19908" y="76200"/>
                </a:moveTo>
                <a:lnTo>
                  <a:pt x="199489" y="47625"/>
                </a:lnTo>
                <a:lnTo>
                  <a:pt x="67270" y="47625"/>
                </a:lnTo>
                <a:lnTo>
                  <a:pt x="46851" y="76200"/>
                </a:lnTo>
                <a:lnTo>
                  <a:pt x="219908" y="76200"/>
                </a:lnTo>
                <a:close/>
                <a:moveTo>
                  <a:pt x="0" y="88404"/>
                </a:moveTo>
                <a:cubicBezTo>
                  <a:pt x="0" y="80486"/>
                  <a:pt x="2500" y="72747"/>
                  <a:pt x="7084" y="66258"/>
                </a:cubicBezTo>
                <a:lnTo>
                  <a:pt x="36255" y="25479"/>
                </a:lnTo>
                <a:cubicBezTo>
                  <a:pt x="43398" y="15478"/>
                  <a:pt x="54947" y="9525"/>
                  <a:pt x="67211" y="9525"/>
                </a:cubicBezTo>
                <a:lnTo>
                  <a:pt x="199430" y="9525"/>
                </a:lnTo>
                <a:cubicBezTo>
                  <a:pt x="211753" y="9525"/>
                  <a:pt x="223302" y="15478"/>
                  <a:pt x="230445" y="25479"/>
                </a:cubicBezTo>
                <a:lnTo>
                  <a:pt x="259556" y="66258"/>
                </a:lnTo>
                <a:cubicBezTo>
                  <a:pt x="264200" y="72747"/>
                  <a:pt x="266640" y="80486"/>
                  <a:pt x="266640" y="88404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8840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01025" y="38100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25360" y="41148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receives and uses the product.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25360" y="4826000"/>
            <a:ext cx="2260600" cy="406400"/>
          </a:xfrm>
          <a:custGeom>
            <a:avLst/>
            <a:gdLst/>
            <a:ahLst/>
            <a:cxnLst/>
            <a:rect l="l" t="t" r="r" b="b"/>
            <a:pathLst>
              <a:path w="2260600" h="406400">
                <a:moveTo>
                  <a:pt x="76200" y="0"/>
                </a:moveTo>
                <a:lnTo>
                  <a:pt x="2184400" y="0"/>
                </a:lnTo>
                <a:cubicBezTo>
                  <a:pt x="2226456" y="0"/>
                  <a:pt x="2260600" y="34144"/>
                  <a:pt x="2260600" y="76200"/>
                </a:cubicBezTo>
                <a:lnTo>
                  <a:pt x="2260600" y="330200"/>
                </a:lnTo>
                <a:cubicBezTo>
                  <a:pt x="2260600" y="372256"/>
                  <a:pt x="2226456" y="406400"/>
                  <a:pt x="21844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50760" y="4927600"/>
            <a:ext cx="220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Delight: Easy to set up!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03840" y="289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657840" y="314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8600" y="114300"/>
                </a:moveTo>
                <a:cubicBezTo>
                  <a:pt x="260152" y="114300"/>
                  <a:pt x="285750" y="88702"/>
                  <a:pt x="285750" y="57150"/>
                </a:cubicBezTo>
                <a:cubicBezTo>
                  <a:pt x="285750" y="25598"/>
                  <a:pt x="260152" y="0"/>
                  <a:pt x="228600" y="0"/>
                </a:cubicBezTo>
                <a:cubicBezTo>
                  <a:pt x="197048" y="0"/>
                  <a:pt x="171450" y="25598"/>
                  <a:pt x="171450" y="57150"/>
                </a:cubicBezTo>
                <a:cubicBezTo>
                  <a:pt x="171450" y="60365"/>
                  <a:pt x="171748" y="63579"/>
                  <a:pt x="172224" y="66675"/>
                </a:cubicBezTo>
                <a:lnTo>
                  <a:pt x="95012" y="109597"/>
                </a:lnTo>
                <a:cubicBezTo>
                  <a:pt x="84951" y="100667"/>
                  <a:pt x="71676" y="95250"/>
                  <a:pt x="57150" y="95250"/>
                </a:cubicBezTo>
                <a:cubicBezTo>
                  <a:pt x="25598" y="95250"/>
                  <a:pt x="0" y="120848"/>
                  <a:pt x="0" y="152400"/>
                </a:cubicBezTo>
                <a:cubicBezTo>
                  <a:pt x="0" y="183952"/>
                  <a:pt x="25598" y="209550"/>
                  <a:pt x="57150" y="209550"/>
                </a:cubicBezTo>
                <a:cubicBezTo>
                  <a:pt x="71676" y="209550"/>
                  <a:pt x="84892" y="204133"/>
                  <a:pt x="95012" y="195203"/>
                </a:cubicBezTo>
                <a:lnTo>
                  <a:pt x="172224" y="238125"/>
                </a:lnTo>
                <a:cubicBezTo>
                  <a:pt x="171688" y="241221"/>
                  <a:pt x="171450" y="244376"/>
                  <a:pt x="171450" y="247650"/>
                </a:cubicBezTo>
                <a:cubicBezTo>
                  <a:pt x="171450" y="279202"/>
                  <a:pt x="197048" y="304800"/>
                  <a:pt x="228600" y="304800"/>
                </a:cubicBezTo>
                <a:cubicBezTo>
                  <a:pt x="260152" y="304800"/>
                  <a:pt x="285750" y="279202"/>
                  <a:pt x="285750" y="247650"/>
                </a:cubicBezTo>
                <a:cubicBezTo>
                  <a:pt x="285750" y="216098"/>
                  <a:pt x="260152" y="190500"/>
                  <a:pt x="228600" y="190500"/>
                </a:cubicBezTo>
                <a:cubicBezTo>
                  <a:pt x="214074" y="190500"/>
                  <a:pt x="200858" y="195917"/>
                  <a:pt x="190738" y="204847"/>
                </a:cubicBezTo>
                <a:lnTo>
                  <a:pt x="113526" y="161925"/>
                </a:lnTo>
                <a:cubicBezTo>
                  <a:pt x="114062" y="158829"/>
                  <a:pt x="114300" y="155674"/>
                  <a:pt x="114300" y="152400"/>
                </a:cubicBezTo>
                <a:cubicBezTo>
                  <a:pt x="114300" y="149126"/>
                  <a:pt x="114002" y="145971"/>
                  <a:pt x="113526" y="142875"/>
                </a:cubicBezTo>
                <a:lnTo>
                  <a:pt x="190738" y="99953"/>
                </a:lnTo>
                <a:cubicBezTo>
                  <a:pt x="200799" y="108883"/>
                  <a:pt x="214074" y="114300"/>
                  <a:pt x="228600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21131" y="38100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Advocate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82480" y="41148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Happy user recommends to others.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82480" y="4826000"/>
            <a:ext cx="2260600" cy="406400"/>
          </a:xfrm>
          <a:custGeom>
            <a:avLst/>
            <a:gdLst/>
            <a:ahLst/>
            <a:cxnLst/>
            <a:rect l="l" t="t" r="r" b="b"/>
            <a:pathLst>
              <a:path w="2260600" h="406400">
                <a:moveTo>
                  <a:pt x="76200" y="0"/>
                </a:moveTo>
                <a:lnTo>
                  <a:pt x="2184400" y="0"/>
                </a:lnTo>
                <a:cubicBezTo>
                  <a:pt x="2226456" y="0"/>
                  <a:pt x="2260600" y="34144"/>
                  <a:pt x="2260600" y="76200"/>
                </a:cubicBezTo>
                <a:lnTo>
                  <a:pt x="2260600" y="330200"/>
                </a:lnTo>
                <a:cubicBezTo>
                  <a:pt x="2260600" y="372256"/>
                  <a:pt x="2226456" y="406400"/>
                  <a:pt x="21844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C2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07880" y="4927600"/>
            <a:ext cx="220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 Loyalty &amp; Advocacy</a:t>
            </a:r>
            <a:endParaRPr lang="en-US" sz="1600" dirty="0"/>
          </a:p>
        </p:txBody>
      </p:sp>
      <p:pic>
        <p:nvPicPr>
          <p:cNvPr id="35" name="Picture 5">
            <a:extLst>
              <a:ext uri="{FF2B5EF4-FFF2-40B4-BE49-F238E27FC236}">
                <a16:creationId xmlns:a16="http://schemas.microsoft.com/office/drawing/2014/main" id="{A237AF5C-A0A9-76BB-060F-D71A15A4C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E11370B6-F975-9BB0-8203-6149E1CF6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Ideation &amp; Architecture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03</a:t>
            </a: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B999F315-D2F3-94E3-757E-6C53679C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466BD22-2FE6-D613-D3C0-1001168BE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Stories to User Flows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65200"/>
            <a:ext cx="1168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Translate requirements into narrative user stories, then diagram task flows to streamline interaction and reduce abandonment.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981200"/>
            <a:ext cx="3517900" cy="4622800"/>
          </a:xfrm>
          <a:custGeom>
            <a:avLst/>
            <a:gdLst/>
            <a:ahLst/>
            <a:cxnLst/>
            <a:rect l="l" t="t" r="r" b="b"/>
            <a:pathLst>
              <a:path w="3517900" h="4622800">
                <a:moveTo>
                  <a:pt x="101597" y="0"/>
                </a:moveTo>
                <a:lnTo>
                  <a:pt x="3416303" y="0"/>
                </a:lnTo>
                <a:cubicBezTo>
                  <a:pt x="3472413" y="0"/>
                  <a:pt x="3517900" y="45487"/>
                  <a:pt x="3517900" y="101597"/>
                </a:cubicBezTo>
                <a:lnTo>
                  <a:pt x="3517900" y="4521203"/>
                </a:lnTo>
                <a:cubicBezTo>
                  <a:pt x="3517900" y="4577313"/>
                  <a:pt x="3472413" y="4622800"/>
                  <a:pt x="3416303" y="4622800"/>
                </a:cubicBezTo>
                <a:lnTo>
                  <a:pt x="101597" y="4622800"/>
                </a:lnTo>
                <a:cubicBezTo>
                  <a:pt x="45487" y="4622800"/>
                  <a:pt x="0" y="4577313"/>
                  <a:pt x="0" y="4521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44441" y="2184400"/>
            <a:ext cx="153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09102" y="269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68235"/>
                </a:moveTo>
                <a:lnTo>
                  <a:pt x="304800" y="536496"/>
                </a:lnTo>
                <a:lnTo>
                  <a:pt x="305395" y="536258"/>
                </a:lnTo>
                <a:cubicBezTo>
                  <a:pt x="370403" y="509230"/>
                  <a:pt x="440174" y="495300"/>
                  <a:pt x="510540" y="495300"/>
                </a:cubicBezTo>
                <a:lnTo>
                  <a:pt x="533400" y="495300"/>
                </a:lnTo>
                <a:lnTo>
                  <a:pt x="533400" y="114300"/>
                </a:lnTo>
                <a:lnTo>
                  <a:pt x="510540" y="114300"/>
                </a:lnTo>
                <a:cubicBezTo>
                  <a:pt x="460296" y="114300"/>
                  <a:pt x="410408" y="124301"/>
                  <a:pt x="363974" y="143589"/>
                </a:cubicBezTo>
                <a:cubicBezTo>
                  <a:pt x="343972" y="151924"/>
                  <a:pt x="324207" y="160139"/>
                  <a:pt x="304800" y="168235"/>
                </a:cubicBezTo>
                <a:close/>
                <a:moveTo>
                  <a:pt x="274915" y="73223"/>
                </a:moveTo>
                <a:lnTo>
                  <a:pt x="304800" y="85725"/>
                </a:lnTo>
                <a:lnTo>
                  <a:pt x="334685" y="73223"/>
                </a:lnTo>
                <a:cubicBezTo>
                  <a:pt x="390406" y="50006"/>
                  <a:pt x="450175" y="38100"/>
                  <a:pt x="51054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0540" y="571500"/>
                </a:lnTo>
                <a:cubicBezTo>
                  <a:pt x="450175" y="571500"/>
                  <a:pt x="390406" y="583406"/>
                  <a:pt x="334685" y="606623"/>
                </a:cubicBezTo>
                <a:lnTo>
                  <a:pt x="319445" y="612934"/>
                </a:lnTo>
                <a:cubicBezTo>
                  <a:pt x="310039" y="616863"/>
                  <a:pt x="299561" y="616863"/>
                  <a:pt x="290155" y="612934"/>
                </a:cubicBezTo>
                <a:lnTo>
                  <a:pt x="274915" y="606623"/>
                </a:lnTo>
                <a:cubicBezTo>
                  <a:pt x="219194" y="583406"/>
                  <a:pt x="159425" y="571500"/>
                  <a:pt x="9906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95250"/>
                </a:lnTo>
                <a:cubicBezTo>
                  <a:pt x="0" y="63698"/>
                  <a:pt x="25598" y="38100"/>
                  <a:pt x="57150" y="38100"/>
                </a:cubicBezTo>
                <a:lnTo>
                  <a:pt x="99060" y="38100"/>
                </a:lnTo>
                <a:cubicBezTo>
                  <a:pt x="159425" y="38100"/>
                  <a:pt x="219194" y="50006"/>
                  <a:pt x="274915" y="73223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505200"/>
            <a:ext cx="311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"As a [user], I want to [action], so that [benefit]."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16400"/>
            <a:ext cx="3111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simple, non-technical description of a feature from the user's perspective.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435600"/>
            <a:ext cx="3111500" cy="965200"/>
          </a:xfrm>
          <a:custGeom>
            <a:avLst/>
            <a:gdLst/>
            <a:ahLst/>
            <a:cxnLst/>
            <a:rect l="l" t="t" r="r" b="b"/>
            <a:pathLst>
              <a:path w="3111500" h="965200">
                <a:moveTo>
                  <a:pt x="76203" y="0"/>
                </a:moveTo>
                <a:lnTo>
                  <a:pt x="3035297" y="0"/>
                </a:lnTo>
                <a:cubicBezTo>
                  <a:pt x="3077383" y="0"/>
                  <a:pt x="3111500" y="34117"/>
                  <a:pt x="3111500" y="76203"/>
                </a:cubicBezTo>
                <a:lnTo>
                  <a:pt x="3111500" y="888997"/>
                </a:lnTo>
                <a:cubicBezTo>
                  <a:pt x="3111500" y="931083"/>
                  <a:pt x="3077383" y="965200"/>
                  <a:pt x="3035297" y="965200"/>
                </a:cubicBezTo>
                <a:lnTo>
                  <a:pt x="76203" y="965200"/>
                </a:lnTo>
                <a:cubicBezTo>
                  <a:pt x="34117" y="965200"/>
                  <a:pt x="0" y="931083"/>
                  <a:pt x="0" y="8889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00AEE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5435600"/>
            <a:ext cx="3111500" cy="965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"As a customer, I want to save items to a wishlist, so I can purchase them later."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15105" y="39878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42205" y="1981200"/>
            <a:ext cx="6997700" cy="4622800"/>
          </a:xfrm>
          <a:custGeom>
            <a:avLst/>
            <a:gdLst/>
            <a:ahLst/>
            <a:cxnLst/>
            <a:rect l="l" t="t" r="r" b="b"/>
            <a:pathLst>
              <a:path w="6997700" h="4622800">
                <a:moveTo>
                  <a:pt x="101609" y="0"/>
                </a:moveTo>
                <a:lnTo>
                  <a:pt x="6896091" y="0"/>
                </a:lnTo>
                <a:cubicBezTo>
                  <a:pt x="6952208" y="0"/>
                  <a:pt x="6997700" y="45492"/>
                  <a:pt x="6997700" y="101609"/>
                </a:cubicBezTo>
                <a:lnTo>
                  <a:pt x="6997700" y="4521191"/>
                </a:lnTo>
                <a:cubicBezTo>
                  <a:pt x="6997700" y="4577308"/>
                  <a:pt x="6952208" y="4622800"/>
                  <a:pt x="6896091" y="4622800"/>
                </a:cubicBezTo>
                <a:lnTo>
                  <a:pt x="101609" y="4622800"/>
                </a:lnTo>
                <a:cubicBezTo>
                  <a:pt x="45492" y="4622800"/>
                  <a:pt x="0" y="4577308"/>
                  <a:pt x="0" y="45211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8405" y="2184400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Flow Diagram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28761" y="345455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09761" y="38355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2916" y="4775358"/>
            <a:ext cx="77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65633" y="40514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30027" y="345455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11027" y="38355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69054" y="4775358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 to Wishlist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39129" y="40514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331450" y="345455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12450" y="38355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56295" y="343079"/>
                </a:moveTo>
                <a:cubicBezTo>
                  <a:pt x="336560" y="308789"/>
                  <a:pt x="299502" y="285750"/>
                  <a:pt x="257175" y="285750"/>
                </a:cubicBezTo>
                <a:lnTo>
                  <a:pt x="200025" y="285750"/>
                </a:lnTo>
                <a:cubicBezTo>
                  <a:pt x="157698" y="285750"/>
                  <a:pt x="120640" y="308789"/>
                  <a:pt x="100905" y="343079"/>
                </a:cubicBezTo>
                <a:cubicBezTo>
                  <a:pt x="132338" y="378083"/>
                  <a:pt x="177879" y="400050"/>
                  <a:pt x="228600" y="400050"/>
                </a:cubicBezTo>
                <a:cubicBezTo>
                  <a:pt x="279321" y="400050"/>
                  <a:pt x="324862" y="377994"/>
                  <a:pt x="356295" y="343079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242888"/>
                </a:moveTo>
                <a:cubicBezTo>
                  <a:pt x="264085" y="242888"/>
                  <a:pt x="292894" y="214078"/>
                  <a:pt x="292894" y="178594"/>
                </a:cubicBezTo>
                <a:cubicBezTo>
                  <a:pt x="292894" y="143109"/>
                  <a:pt x="264085" y="114300"/>
                  <a:pt x="228600" y="114300"/>
                </a:cubicBezTo>
                <a:cubicBezTo>
                  <a:pt x="193115" y="114300"/>
                  <a:pt x="164306" y="143109"/>
                  <a:pt x="164306" y="178594"/>
                </a:cubicBezTo>
                <a:cubicBezTo>
                  <a:pt x="164306" y="214078"/>
                  <a:pt x="193115" y="242888"/>
                  <a:pt x="228600" y="24288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83984" y="4775358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 Wishlist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5405" y="5994719"/>
            <a:ext cx="6591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visual representation of the path a user takes to complete a task, charting decision nodes and alternate paths.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9652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Information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676400"/>
            <a:ext cx="5638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Organizing, structuring, and labeling content so users can find information and move confidently through large data sets.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8670" y="3048000"/>
            <a:ext cx="530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 &amp; Taxonomy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8670" y="3352800"/>
            <a:ext cx="510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a clear, logical structure. Use categories and subcategories that make sense to users.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3838" y="4064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98549" y="29096"/>
                </a:moveTo>
                <a:lnTo>
                  <a:pt x="408831" y="140940"/>
                </a:lnTo>
                <a:cubicBezTo>
                  <a:pt x="429444" y="161851"/>
                  <a:pt x="429444" y="195337"/>
                  <a:pt x="408831" y="216247"/>
                </a:cubicBezTo>
                <a:lnTo>
                  <a:pt x="292447" y="334045"/>
                </a:lnTo>
                <a:cubicBezTo>
                  <a:pt x="285527" y="341040"/>
                  <a:pt x="274216" y="341114"/>
                  <a:pt x="267221" y="334194"/>
                </a:cubicBezTo>
                <a:cubicBezTo>
                  <a:pt x="260226" y="327273"/>
                  <a:pt x="260152" y="315962"/>
                  <a:pt x="267072" y="308967"/>
                </a:cubicBezTo>
                <a:lnTo>
                  <a:pt x="383456" y="191095"/>
                </a:lnTo>
                <a:cubicBezTo>
                  <a:pt x="390302" y="184175"/>
                  <a:pt x="390302" y="172938"/>
                  <a:pt x="383456" y="166018"/>
                </a:cubicBezTo>
                <a:lnTo>
                  <a:pt x="273100" y="54248"/>
                </a:lnTo>
                <a:cubicBezTo>
                  <a:pt x="266179" y="47253"/>
                  <a:pt x="266254" y="35942"/>
                  <a:pt x="273248" y="29021"/>
                </a:cubicBezTo>
                <a:cubicBezTo>
                  <a:pt x="280243" y="22101"/>
                  <a:pt x="291554" y="22175"/>
                  <a:pt x="298475" y="29170"/>
                </a:cubicBezTo>
                <a:close/>
                <a:moveTo>
                  <a:pt x="23887" y="170780"/>
                </a:moveTo>
                <a:lnTo>
                  <a:pt x="23887" y="71438"/>
                </a:lnTo>
                <a:cubicBezTo>
                  <a:pt x="23887" y="45169"/>
                  <a:pt x="45244" y="23812"/>
                  <a:pt x="71512" y="23812"/>
                </a:cubicBezTo>
                <a:lnTo>
                  <a:pt x="170855" y="23812"/>
                </a:lnTo>
                <a:cubicBezTo>
                  <a:pt x="183505" y="23812"/>
                  <a:pt x="195635" y="28798"/>
                  <a:pt x="204564" y="37728"/>
                </a:cubicBezTo>
                <a:lnTo>
                  <a:pt x="311721" y="144884"/>
                </a:lnTo>
                <a:cubicBezTo>
                  <a:pt x="330324" y="163488"/>
                  <a:pt x="330324" y="193625"/>
                  <a:pt x="311721" y="212229"/>
                </a:cubicBezTo>
                <a:lnTo>
                  <a:pt x="212378" y="311572"/>
                </a:lnTo>
                <a:cubicBezTo>
                  <a:pt x="193774" y="330175"/>
                  <a:pt x="163637" y="330175"/>
                  <a:pt x="145033" y="311572"/>
                </a:cubicBezTo>
                <a:lnTo>
                  <a:pt x="37877" y="204415"/>
                </a:lnTo>
                <a:cubicBezTo>
                  <a:pt x="28947" y="195486"/>
                  <a:pt x="23961" y="183356"/>
                  <a:pt x="23961" y="170706"/>
                </a:cubicBezTo>
                <a:close/>
                <a:moveTo>
                  <a:pt x="131043" y="107156"/>
                </a:moveTo>
                <a:cubicBezTo>
                  <a:pt x="131043" y="94014"/>
                  <a:pt x="120373" y="83344"/>
                  <a:pt x="107231" y="83344"/>
                </a:cubicBezTo>
                <a:cubicBezTo>
                  <a:pt x="94088" y="83344"/>
                  <a:pt x="83418" y="94014"/>
                  <a:pt x="83418" y="107156"/>
                </a:cubicBezTo>
                <a:cubicBezTo>
                  <a:pt x="83418" y="120299"/>
                  <a:pt x="94088" y="130969"/>
                  <a:pt x="107231" y="130969"/>
                </a:cubicBezTo>
                <a:cubicBezTo>
                  <a:pt x="120373" y="130969"/>
                  <a:pt x="131043" y="120299"/>
                  <a:pt x="131043" y="107156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8675" y="4064000"/>
            <a:ext cx="527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Labeling &amp; Metadata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8675" y="43688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clear, concise, and consistent labels. Metadata helps with search and filtering.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2250" y="508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28228" y="241920"/>
                </a:moveTo>
                <a:lnTo>
                  <a:pt x="120848" y="283220"/>
                </a:lnTo>
                <a:cubicBezTo>
                  <a:pt x="106412" y="288801"/>
                  <a:pt x="92199" y="274588"/>
                  <a:pt x="97780" y="260152"/>
                </a:cubicBezTo>
                <a:lnTo>
                  <a:pt x="139080" y="152772"/>
                </a:lnTo>
                <a:cubicBezTo>
                  <a:pt x="141536" y="146447"/>
                  <a:pt x="146447" y="141536"/>
                  <a:pt x="152772" y="139080"/>
                </a:cubicBezTo>
                <a:lnTo>
                  <a:pt x="260152" y="97780"/>
                </a:lnTo>
                <a:cubicBezTo>
                  <a:pt x="274588" y="92199"/>
                  <a:pt x="288801" y="106412"/>
                  <a:pt x="283220" y="120848"/>
                </a:cubicBezTo>
                <a:lnTo>
                  <a:pt x="241920" y="228228"/>
                </a:lnTo>
                <a:cubicBezTo>
                  <a:pt x="239539" y="234553"/>
                  <a:pt x="234553" y="239464"/>
                  <a:pt x="228228" y="241920"/>
                </a:cubicBezTo>
                <a:close/>
                <a:moveTo>
                  <a:pt x="214313" y="190500"/>
                </a:moveTo>
                <a:cubicBezTo>
                  <a:pt x="214313" y="177358"/>
                  <a:pt x="203642" y="166688"/>
                  <a:pt x="190500" y="166688"/>
                </a:cubicBezTo>
                <a:cubicBezTo>
                  <a:pt x="177358" y="166688"/>
                  <a:pt x="166688" y="177358"/>
                  <a:pt x="166688" y="190500"/>
                </a:cubicBezTo>
                <a:cubicBezTo>
                  <a:pt x="166688" y="203642"/>
                  <a:pt x="177358" y="214313"/>
                  <a:pt x="190500" y="214313"/>
                </a:cubicBezTo>
                <a:cubicBezTo>
                  <a:pt x="203642" y="214313"/>
                  <a:pt x="214313" y="203642"/>
                  <a:pt x="214313" y="1905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0414" y="5080000"/>
            <a:ext cx="532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Navigation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0414" y="53848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 clear and consistent navigation so users always know where they are and how to get back.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772420"/>
            <a:ext cx="5638800" cy="5295900"/>
          </a:xfrm>
          <a:custGeom>
            <a:avLst/>
            <a:gdLst/>
            <a:ahLst/>
            <a:cxnLst/>
            <a:rect l="l" t="t" r="r" b="b"/>
            <a:pathLst>
              <a:path w="5638800" h="5295900">
                <a:moveTo>
                  <a:pt x="101575" y="0"/>
                </a:moveTo>
                <a:lnTo>
                  <a:pt x="5537225" y="0"/>
                </a:lnTo>
                <a:cubicBezTo>
                  <a:pt x="5593323" y="0"/>
                  <a:pt x="5638800" y="45477"/>
                  <a:pt x="5638800" y="101575"/>
                </a:cubicBezTo>
                <a:lnTo>
                  <a:pt x="5638800" y="5194325"/>
                </a:lnTo>
                <a:cubicBezTo>
                  <a:pt x="5638800" y="5250423"/>
                  <a:pt x="5593323" y="5295900"/>
                  <a:pt x="5537225" y="5295900"/>
                </a:cubicBezTo>
                <a:lnTo>
                  <a:pt x="101575" y="5295900"/>
                </a:lnTo>
                <a:cubicBezTo>
                  <a:pt x="45477" y="5295900"/>
                  <a:pt x="0" y="5250423"/>
                  <a:pt x="0" y="5194325"/>
                </a:cubicBezTo>
                <a:lnTo>
                  <a:pt x="0" y="101575"/>
                </a:lnTo>
                <a:cubicBezTo>
                  <a:pt x="0" y="45514"/>
                  <a:pt x="45514" y="0"/>
                  <a:pt x="101575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8100" y="986315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AE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E-commerce Site 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72304" y="2984500"/>
            <a:ext cx="1397000" cy="508000"/>
          </a:xfrm>
          <a:custGeom>
            <a:avLst/>
            <a:gdLst/>
            <a:ahLst/>
            <a:cxnLst/>
            <a:rect l="l" t="t" r="r" b="b"/>
            <a:pathLst>
              <a:path w="1397000" h="508000">
                <a:moveTo>
                  <a:pt x="76200" y="0"/>
                </a:moveTo>
                <a:lnTo>
                  <a:pt x="1320800" y="0"/>
                </a:lnTo>
                <a:cubicBezTo>
                  <a:pt x="1362856" y="0"/>
                  <a:pt x="1397000" y="34144"/>
                  <a:pt x="1397000" y="76200"/>
                </a:cubicBezTo>
                <a:lnTo>
                  <a:pt x="1397000" y="431800"/>
                </a:lnTo>
                <a:cubicBezTo>
                  <a:pt x="1397000" y="473856"/>
                  <a:pt x="1362856" y="508000"/>
                  <a:pt x="1320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26254" y="2997045"/>
            <a:ext cx="1689100" cy="5080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Homepage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12250" y="3505045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00AEE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96350" y="3911445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00AEE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12250" y="3911445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00AEE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28150" y="3911445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00AEE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5137" y="4317845"/>
            <a:ext cx="1727200" cy="457200"/>
          </a:xfrm>
          <a:custGeom>
            <a:avLst/>
            <a:gdLst/>
            <a:ahLst/>
            <a:cxnLst/>
            <a:rect l="l" t="t" r="r" b="b"/>
            <a:pathLst>
              <a:path w="1727200" h="457200">
                <a:moveTo>
                  <a:pt x="76202" y="0"/>
                </a:moveTo>
                <a:lnTo>
                  <a:pt x="1650998" y="0"/>
                </a:lnTo>
                <a:cubicBezTo>
                  <a:pt x="1693083" y="0"/>
                  <a:pt x="1727200" y="34117"/>
                  <a:pt x="1727200" y="76202"/>
                </a:cubicBezTo>
                <a:lnTo>
                  <a:pt x="1727200" y="380998"/>
                </a:lnTo>
                <a:cubicBezTo>
                  <a:pt x="1727200" y="423083"/>
                  <a:pt x="1693083" y="457200"/>
                  <a:pt x="165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5137" y="4317845"/>
            <a:ext cx="1727200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Shop by Category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38920" y="4317845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76202" y="0"/>
                </a:moveTo>
                <a:lnTo>
                  <a:pt x="685798" y="0"/>
                </a:lnTo>
                <a:cubicBezTo>
                  <a:pt x="727883" y="0"/>
                  <a:pt x="762000" y="34117"/>
                  <a:pt x="762000" y="76202"/>
                </a:cubicBezTo>
                <a:lnTo>
                  <a:pt x="762000" y="380998"/>
                </a:lnTo>
                <a:cubicBezTo>
                  <a:pt x="762000" y="423083"/>
                  <a:pt x="727883" y="457200"/>
                  <a:pt x="685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38920" y="4317845"/>
            <a:ext cx="762000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Deals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504012" y="4317845"/>
            <a:ext cx="927100" cy="457200"/>
          </a:xfrm>
          <a:custGeom>
            <a:avLst/>
            <a:gdLst/>
            <a:ahLst/>
            <a:cxnLst/>
            <a:rect l="l" t="t" r="r" b="b"/>
            <a:pathLst>
              <a:path w="927100" h="457200">
                <a:moveTo>
                  <a:pt x="76202" y="0"/>
                </a:moveTo>
                <a:lnTo>
                  <a:pt x="850898" y="0"/>
                </a:lnTo>
                <a:cubicBezTo>
                  <a:pt x="892983" y="0"/>
                  <a:pt x="927100" y="34117"/>
                  <a:pt x="927100" y="76202"/>
                </a:cubicBezTo>
                <a:lnTo>
                  <a:pt x="927100" y="380998"/>
                </a:lnTo>
                <a:cubicBezTo>
                  <a:pt x="927100" y="423083"/>
                  <a:pt x="892983" y="457200"/>
                  <a:pt x="8508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04145" y="4317845"/>
            <a:ext cx="1126967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</a:t>
            </a:r>
            <a:endParaRPr lang="en-US" sz="1600" dirty="0"/>
          </a:p>
        </p:txBody>
      </p:sp>
      <p:pic>
        <p:nvPicPr>
          <p:cNvPr id="27" name="Picture 5">
            <a:extLst>
              <a:ext uri="{FF2B5EF4-FFF2-40B4-BE49-F238E27FC236}">
                <a16:creationId xmlns:a16="http://schemas.microsoft.com/office/drawing/2014/main" id="{58122A90-85D3-7918-C449-F73DFA88A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5BF35C6F-5057-A16D-FDEA-BDD79F04C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975" y="6604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Low-Fidelity Wireframing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81200"/>
            <a:ext cx="5638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grayscale wireframes to focus on layout, priority, and functionality without aesthetic distraction. This enables rapid iteration and early usability testing.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1300" y="340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2460" y="3352800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Iteration: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Quick to create and modify, allowing for more design exploration.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2725" y="4216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90500" y="71438"/>
                </a:moveTo>
                <a:cubicBezTo>
                  <a:pt x="190500" y="119658"/>
                  <a:pt x="147836" y="158750"/>
                  <a:pt x="95250" y="158750"/>
                </a:cubicBezTo>
                <a:cubicBezTo>
                  <a:pt x="82004" y="158750"/>
                  <a:pt x="69404" y="156270"/>
                  <a:pt x="57944" y="151805"/>
                </a:cubicBezTo>
                <a:lnTo>
                  <a:pt x="17463" y="173236"/>
                </a:lnTo>
                <a:cubicBezTo>
                  <a:pt x="12849" y="175667"/>
                  <a:pt x="7193" y="174823"/>
                  <a:pt x="3473" y="171152"/>
                </a:cubicBezTo>
                <a:cubicBezTo>
                  <a:pt x="-248" y="167481"/>
                  <a:pt x="-1091" y="161776"/>
                  <a:pt x="1389" y="157163"/>
                </a:cubicBezTo>
                <a:lnTo>
                  <a:pt x="19050" y="123825"/>
                </a:lnTo>
                <a:cubicBezTo>
                  <a:pt x="7094" y="109240"/>
                  <a:pt x="0" y="91083"/>
                  <a:pt x="0" y="71438"/>
                </a:cubicBezTo>
                <a:cubicBezTo>
                  <a:pt x="0" y="23217"/>
                  <a:pt x="42664" y="-15875"/>
                  <a:pt x="95250" y="-15875"/>
                </a:cubicBezTo>
                <a:cubicBezTo>
                  <a:pt x="147836" y="-15875"/>
                  <a:pt x="190500" y="23217"/>
                  <a:pt x="190500" y="71438"/>
                </a:cubicBezTo>
                <a:close/>
                <a:moveTo>
                  <a:pt x="190500" y="254000"/>
                </a:moveTo>
                <a:cubicBezTo>
                  <a:pt x="143818" y="254000"/>
                  <a:pt x="104973" y="223193"/>
                  <a:pt x="96837" y="182563"/>
                </a:cubicBezTo>
                <a:cubicBezTo>
                  <a:pt x="156369" y="181818"/>
                  <a:pt x="208111" y="139452"/>
                  <a:pt x="213816" y="82004"/>
                </a:cubicBezTo>
                <a:cubicBezTo>
                  <a:pt x="255141" y="91529"/>
                  <a:pt x="285750" y="125809"/>
                  <a:pt x="285750" y="166688"/>
                </a:cubicBezTo>
                <a:cubicBezTo>
                  <a:pt x="285750" y="186333"/>
                  <a:pt x="278656" y="204490"/>
                  <a:pt x="266700" y="219075"/>
                </a:cubicBezTo>
                <a:lnTo>
                  <a:pt x="284361" y="252412"/>
                </a:lnTo>
                <a:cubicBezTo>
                  <a:pt x="286792" y="257026"/>
                  <a:pt x="285948" y="262682"/>
                  <a:pt x="282277" y="266402"/>
                </a:cubicBezTo>
                <a:cubicBezTo>
                  <a:pt x="278606" y="270123"/>
                  <a:pt x="272901" y="270966"/>
                  <a:pt x="268287" y="268486"/>
                </a:cubicBezTo>
                <a:lnTo>
                  <a:pt x="227806" y="247055"/>
                </a:lnTo>
                <a:cubicBezTo>
                  <a:pt x="216346" y="251520"/>
                  <a:pt x="203746" y="254000"/>
                  <a:pt x="190500" y="25400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6108" y="4165600"/>
            <a:ext cx="528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Better Feedback: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Keeps stakeholders focused on user value and structure, not color debate.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7975" y="50292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703" y="4978400"/>
            <a:ext cx="5219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Cost-Effective: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Saves costly rework later in the development process.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99200" y="783115"/>
            <a:ext cx="5600700" cy="5245100"/>
          </a:xfrm>
          <a:custGeom>
            <a:avLst/>
            <a:gdLst/>
            <a:ahLst/>
            <a:cxnLst/>
            <a:rect l="l" t="t" r="r" b="b"/>
            <a:pathLst>
              <a:path w="5600700" h="5245100">
                <a:moveTo>
                  <a:pt x="101598" y="0"/>
                </a:moveTo>
                <a:lnTo>
                  <a:pt x="5499102" y="0"/>
                </a:lnTo>
                <a:cubicBezTo>
                  <a:pt x="5555213" y="0"/>
                  <a:pt x="5600700" y="45487"/>
                  <a:pt x="5600700" y="101598"/>
                </a:cubicBezTo>
                <a:lnTo>
                  <a:pt x="5600700" y="5143502"/>
                </a:lnTo>
                <a:cubicBezTo>
                  <a:pt x="5600700" y="5199613"/>
                  <a:pt x="5555213" y="5245100"/>
                  <a:pt x="5499102" y="5245100"/>
                </a:cubicBezTo>
                <a:lnTo>
                  <a:pt x="101598" y="5245100"/>
                </a:lnTo>
                <a:cubicBezTo>
                  <a:pt x="45487" y="5245100"/>
                  <a:pt x="0" y="5199613"/>
                  <a:pt x="0" y="51435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8420" y="1006636"/>
            <a:ext cx="542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Lo-Fi Wireframe Example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22720" y="1463836"/>
            <a:ext cx="5194300" cy="609600"/>
          </a:xfrm>
          <a:custGeom>
            <a:avLst/>
            <a:gdLst/>
            <a:ahLst/>
            <a:cxnLst/>
            <a:rect l="l" t="t" r="r" b="b"/>
            <a:pathLst>
              <a:path w="5194300" h="609600">
                <a:moveTo>
                  <a:pt x="50798" y="0"/>
                </a:moveTo>
                <a:lnTo>
                  <a:pt x="5143502" y="0"/>
                </a:lnTo>
                <a:cubicBezTo>
                  <a:pt x="5171557" y="0"/>
                  <a:pt x="5194300" y="22743"/>
                  <a:pt x="5194300" y="50798"/>
                </a:cubicBezTo>
                <a:lnTo>
                  <a:pt x="5194300" y="558802"/>
                </a:lnTo>
                <a:cubicBezTo>
                  <a:pt x="5194300" y="586857"/>
                  <a:pt x="5171557" y="609600"/>
                  <a:pt x="51435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1D5DC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25920" y="1616236"/>
            <a:ext cx="1219200" cy="304800"/>
          </a:xfrm>
          <a:custGeom>
            <a:avLst/>
            <a:gdLst/>
            <a:ahLst/>
            <a:cxnLst/>
            <a:rect l="l" t="t" r="r" b="b"/>
            <a:pathLst>
              <a:path w="1219200" h="304800">
                <a:moveTo>
                  <a:pt x="50801" y="0"/>
                </a:moveTo>
                <a:lnTo>
                  <a:pt x="1168399" y="0"/>
                </a:lnTo>
                <a:cubicBezTo>
                  <a:pt x="1196456" y="0"/>
                  <a:pt x="1219200" y="22744"/>
                  <a:pt x="1219200" y="50801"/>
                </a:cubicBezTo>
                <a:lnTo>
                  <a:pt x="1219200" y="253999"/>
                </a:lnTo>
                <a:cubicBezTo>
                  <a:pt x="1219200" y="282056"/>
                  <a:pt x="1196456" y="304800"/>
                  <a:pt x="1168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22720" y="2276636"/>
            <a:ext cx="3390900" cy="4025900"/>
          </a:xfrm>
          <a:custGeom>
            <a:avLst/>
            <a:gdLst/>
            <a:ahLst/>
            <a:cxnLst/>
            <a:rect l="l" t="t" r="r" b="b"/>
            <a:pathLst>
              <a:path w="3390900" h="4025900">
                <a:moveTo>
                  <a:pt x="50796" y="0"/>
                </a:moveTo>
                <a:lnTo>
                  <a:pt x="3340104" y="0"/>
                </a:lnTo>
                <a:cubicBezTo>
                  <a:pt x="3368158" y="0"/>
                  <a:pt x="3390900" y="22742"/>
                  <a:pt x="3390900" y="50796"/>
                </a:cubicBezTo>
                <a:lnTo>
                  <a:pt x="3390900" y="3975104"/>
                </a:lnTo>
                <a:cubicBezTo>
                  <a:pt x="3390900" y="4003158"/>
                  <a:pt x="3368158" y="4025900"/>
                  <a:pt x="3340104" y="4025900"/>
                </a:cubicBezTo>
                <a:lnTo>
                  <a:pt x="50796" y="4025900"/>
                </a:lnTo>
                <a:cubicBezTo>
                  <a:pt x="22742" y="4025900"/>
                  <a:pt x="0" y="4003158"/>
                  <a:pt x="0" y="39751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D1D5DC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5920" y="2479836"/>
            <a:ext cx="2235200" cy="203200"/>
          </a:xfrm>
          <a:custGeom>
            <a:avLst/>
            <a:gdLst/>
            <a:ahLst/>
            <a:cxnLst/>
            <a:rect l="l" t="t" r="r" b="b"/>
            <a:pathLst>
              <a:path w="2235200" h="203200">
                <a:moveTo>
                  <a:pt x="50800" y="0"/>
                </a:moveTo>
                <a:lnTo>
                  <a:pt x="2184400" y="0"/>
                </a:lnTo>
                <a:cubicBezTo>
                  <a:pt x="2212437" y="0"/>
                  <a:pt x="2235200" y="22763"/>
                  <a:pt x="2235200" y="50800"/>
                </a:cubicBezTo>
                <a:lnTo>
                  <a:pt x="2235200" y="152400"/>
                </a:lnTo>
                <a:cubicBezTo>
                  <a:pt x="2235200" y="180437"/>
                  <a:pt x="2212437" y="203200"/>
                  <a:pt x="2184400" y="203200"/>
                </a:cubicBezTo>
                <a:lnTo>
                  <a:pt x="50800" y="203200"/>
                </a:lnTo>
                <a:cubicBezTo>
                  <a:pt x="22763" y="203200"/>
                  <a:pt x="0" y="180437"/>
                  <a:pt x="0" y="15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25920" y="2886236"/>
            <a:ext cx="2984500" cy="203200"/>
          </a:xfrm>
          <a:custGeom>
            <a:avLst/>
            <a:gdLst/>
            <a:ahLst/>
            <a:cxnLst/>
            <a:rect l="l" t="t" r="r" b="b"/>
            <a:pathLst>
              <a:path w="2984500" h="203200">
                <a:moveTo>
                  <a:pt x="50800" y="0"/>
                </a:moveTo>
                <a:lnTo>
                  <a:pt x="2933700" y="0"/>
                </a:lnTo>
                <a:cubicBezTo>
                  <a:pt x="2961737" y="0"/>
                  <a:pt x="2984500" y="22763"/>
                  <a:pt x="2984500" y="50800"/>
                </a:cubicBezTo>
                <a:lnTo>
                  <a:pt x="2984500" y="152400"/>
                </a:lnTo>
                <a:cubicBezTo>
                  <a:pt x="2984500" y="180437"/>
                  <a:pt x="2961737" y="203200"/>
                  <a:pt x="2933700" y="203200"/>
                </a:cubicBezTo>
                <a:lnTo>
                  <a:pt x="50800" y="203200"/>
                </a:lnTo>
                <a:cubicBezTo>
                  <a:pt x="22763" y="203200"/>
                  <a:pt x="0" y="180437"/>
                  <a:pt x="0" y="15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5920" y="3292636"/>
            <a:ext cx="1498600" cy="203200"/>
          </a:xfrm>
          <a:custGeom>
            <a:avLst/>
            <a:gdLst/>
            <a:ahLst/>
            <a:cxnLst/>
            <a:rect l="l" t="t" r="r" b="b"/>
            <a:pathLst>
              <a:path w="1498600" h="203200">
                <a:moveTo>
                  <a:pt x="50800" y="0"/>
                </a:moveTo>
                <a:lnTo>
                  <a:pt x="1447800" y="0"/>
                </a:lnTo>
                <a:cubicBezTo>
                  <a:pt x="1475837" y="0"/>
                  <a:pt x="1498600" y="22763"/>
                  <a:pt x="1498600" y="50800"/>
                </a:cubicBezTo>
                <a:lnTo>
                  <a:pt x="1498600" y="152400"/>
                </a:lnTo>
                <a:cubicBezTo>
                  <a:pt x="1498600" y="180437"/>
                  <a:pt x="1475837" y="203200"/>
                  <a:pt x="1447800" y="203200"/>
                </a:cubicBezTo>
                <a:lnTo>
                  <a:pt x="50800" y="203200"/>
                </a:lnTo>
                <a:cubicBezTo>
                  <a:pt x="22763" y="203200"/>
                  <a:pt x="0" y="180437"/>
                  <a:pt x="0" y="15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25920" y="5698809"/>
            <a:ext cx="990600" cy="406400"/>
          </a:xfrm>
          <a:custGeom>
            <a:avLst/>
            <a:gdLst/>
            <a:ahLst/>
            <a:cxnLst/>
            <a:rect l="l" t="t" r="r" b="b"/>
            <a:pathLst>
              <a:path w="990600" h="406400">
                <a:moveTo>
                  <a:pt x="50800" y="0"/>
                </a:moveTo>
                <a:lnTo>
                  <a:pt x="939800" y="0"/>
                </a:lnTo>
                <a:cubicBezTo>
                  <a:pt x="967837" y="0"/>
                  <a:pt x="990600" y="22763"/>
                  <a:pt x="990600" y="50800"/>
                </a:cubicBezTo>
                <a:lnTo>
                  <a:pt x="990600" y="355600"/>
                </a:lnTo>
                <a:cubicBezTo>
                  <a:pt x="990600" y="383637"/>
                  <a:pt x="967837" y="406400"/>
                  <a:pt x="9398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19360" y="2276636"/>
            <a:ext cx="1600200" cy="4025900"/>
          </a:xfrm>
          <a:custGeom>
            <a:avLst/>
            <a:gdLst/>
            <a:ahLst/>
            <a:cxnLst/>
            <a:rect l="l" t="t" r="r" b="b"/>
            <a:pathLst>
              <a:path w="1600200" h="4025900">
                <a:moveTo>
                  <a:pt x="50806" y="0"/>
                </a:moveTo>
                <a:lnTo>
                  <a:pt x="1549394" y="0"/>
                </a:lnTo>
                <a:cubicBezTo>
                  <a:pt x="1577453" y="0"/>
                  <a:pt x="1600200" y="22747"/>
                  <a:pt x="1600200" y="50806"/>
                </a:cubicBezTo>
                <a:lnTo>
                  <a:pt x="1600200" y="3975094"/>
                </a:lnTo>
                <a:cubicBezTo>
                  <a:pt x="1600200" y="4003153"/>
                  <a:pt x="1577453" y="4025900"/>
                  <a:pt x="1549394" y="4025900"/>
                </a:cubicBezTo>
                <a:lnTo>
                  <a:pt x="50806" y="4025900"/>
                </a:lnTo>
                <a:cubicBezTo>
                  <a:pt x="22747" y="4025900"/>
                  <a:pt x="0" y="4003153"/>
                  <a:pt x="0" y="3975094"/>
                </a:cubicBezTo>
                <a:lnTo>
                  <a:pt x="0" y="50806"/>
                </a:lnTo>
                <a:cubicBezTo>
                  <a:pt x="0" y="22766"/>
                  <a:pt x="22766" y="0"/>
                  <a:pt x="50806" y="0"/>
                </a:cubicBezTo>
                <a:close/>
              </a:path>
            </a:pathLst>
          </a:custGeom>
          <a:solidFill>
            <a:srgbClr val="D1D5DC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322560" y="2479836"/>
            <a:ext cx="1193800" cy="152400"/>
          </a:xfrm>
          <a:custGeom>
            <a:avLst/>
            <a:gdLst/>
            <a:ahLst/>
            <a:cxnLst/>
            <a:rect l="l" t="t" r="r" b="b"/>
            <a:pathLst>
              <a:path w="1193800" h="152400">
                <a:moveTo>
                  <a:pt x="50799" y="0"/>
                </a:moveTo>
                <a:lnTo>
                  <a:pt x="1143001" y="0"/>
                </a:lnTo>
                <a:cubicBezTo>
                  <a:pt x="1171056" y="0"/>
                  <a:pt x="1193800" y="22744"/>
                  <a:pt x="1193800" y="50799"/>
                </a:cubicBezTo>
                <a:lnTo>
                  <a:pt x="1193800" y="101601"/>
                </a:lnTo>
                <a:cubicBezTo>
                  <a:pt x="1193800" y="129656"/>
                  <a:pt x="1171056" y="152400"/>
                  <a:pt x="11430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322560" y="2784636"/>
            <a:ext cx="787400" cy="152400"/>
          </a:xfrm>
          <a:custGeom>
            <a:avLst/>
            <a:gdLst/>
            <a:ahLst/>
            <a:cxnLst/>
            <a:rect l="l" t="t" r="r" b="b"/>
            <a:pathLst>
              <a:path w="787400" h="152400">
                <a:moveTo>
                  <a:pt x="50799" y="0"/>
                </a:moveTo>
                <a:lnTo>
                  <a:pt x="736601" y="0"/>
                </a:lnTo>
                <a:cubicBezTo>
                  <a:pt x="764656" y="0"/>
                  <a:pt x="787400" y="22744"/>
                  <a:pt x="787400" y="50799"/>
                </a:cubicBezTo>
                <a:lnTo>
                  <a:pt x="787400" y="101601"/>
                </a:lnTo>
                <a:cubicBezTo>
                  <a:pt x="787400" y="129656"/>
                  <a:pt x="764656" y="152400"/>
                  <a:pt x="7366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322560" y="3089436"/>
            <a:ext cx="1193800" cy="152400"/>
          </a:xfrm>
          <a:custGeom>
            <a:avLst/>
            <a:gdLst/>
            <a:ahLst/>
            <a:cxnLst/>
            <a:rect l="l" t="t" r="r" b="b"/>
            <a:pathLst>
              <a:path w="1193800" h="152400">
                <a:moveTo>
                  <a:pt x="50799" y="0"/>
                </a:moveTo>
                <a:lnTo>
                  <a:pt x="1143001" y="0"/>
                </a:lnTo>
                <a:cubicBezTo>
                  <a:pt x="1171056" y="0"/>
                  <a:pt x="1193800" y="22744"/>
                  <a:pt x="1193800" y="50799"/>
                </a:cubicBezTo>
                <a:lnTo>
                  <a:pt x="1193800" y="101601"/>
                </a:lnTo>
                <a:cubicBezTo>
                  <a:pt x="1193800" y="129656"/>
                  <a:pt x="1171056" y="152400"/>
                  <a:pt x="11430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22560" y="3394236"/>
            <a:ext cx="596900" cy="152400"/>
          </a:xfrm>
          <a:custGeom>
            <a:avLst/>
            <a:gdLst/>
            <a:ahLst/>
            <a:cxnLst/>
            <a:rect l="l" t="t" r="r" b="b"/>
            <a:pathLst>
              <a:path w="596900" h="152400">
                <a:moveTo>
                  <a:pt x="50799" y="0"/>
                </a:moveTo>
                <a:lnTo>
                  <a:pt x="546101" y="0"/>
                </a:lnTo>
                <a:cubicBezTo>
                  <a:pt x="574156" y="0"/>
                  <a:pt x="596900" y="22744"/>
                  <a:pt x="596900" y="50799"/>
                </a:cubicBezTo>
                <a:lnTo>
                  <a:pt x="596900" y="101601"/>
                </a:lnTo>
                <a:cubicBezTo>
                  <a:pt x="596900" y="129656"/>
                  <a:pt x="574156" y="152400"/>
                  <a:pt x="5461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99A1AF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cture 5">
            <a:extLst>
              <a:ext uri="{FF2B5EF4-FFF2-40B4-BE49-F238E27FC236}">
                <a16:creationId xmlns:a16="http://schemas.microsoft.com/office/drawing/2014/main" id="{A065F3D7-DDDA-121D-82F6-34B05B540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0D7FF134-BAA1-5C9D-258A-51CD4B11F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Prototyping &amp; Testing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04</a:t>
            </a: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FE8BA2B-B483-D347-9F07-853F24D70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101DE0BA-C3FF-48FD-8698-945EA0370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387558" y="272716"/>
            <a:ext cx="633395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Interactive Figma Prototypes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5537" y="1143000"/>
            <a:ext cx="1135246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Convert static frames into clickable prototypes using Figma's smart animate and overlay features. This allows for realistic user testing and clear communication with developers.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921000"/>
            <a:ext cx="5638800" cy="1219200"/>
          </a:xfrm>
          <a:custGeom>
            <a:avLst/>
            <a:gdLst/>
            <a:ahLst/>
            <a:cxnLst/>
            <a:rect l="l" t="t" r="r" b="b"/>
            <a:pathLst>
              <a:path w="5638800" h="1219200">
                <a:moveTo>
                  <a:pt x="101596" y="0"/>
                </a:moveTo>
                <a:lnTo>
                  <a:pt x="5537204" y="0"/>
                </a:lnTo>
                <a:cubicBezTo>
                  <a:pt x="5593314" y="0"/>
                  <a:pt x="5638800" y="45486"/>
                  <a:pt x="5638800" y="101596"/>
                </a:cubicBezTo>
                <a:lnTo>
                  <a:pt x="5638800" y="1117604"/>
                </a:lnTo>
                <a:cubicBezTo>
                  <a:pt x="5638800" y="1173714"/>
                  <a:pt x="5593314" y="1219200"/>
                  <a:pt x="55372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6744" y="338354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57522" y="1860"/>
                </a:moveTo>
                <a:cubicBezTo>
                  <a:pt x="63550" y="-1191"/>
                  <a:pt x="70842" y="-521"/>
                  <a:pt x="76200" y="3572"/>
                </a:cubicBezTo>
                <a:lnTo>
                  <a:pt x="314325" y="182091"/>
                </a:lnTo>
                <a:cubicBezTo>
                  <a:pt x="320501" y="186705"/>
                  <a:pt x="322957" y="194742"/>
                  <a:pt x="320576" y="202034"/>
                </a:cubicBezTo>
                <a:cubicBezTo>
                  <a:pt x="318195" y="209327"/>
                  <a:pt x="311348" y="214238"/>
                  <a:pt x="303609" y="214238"/>
                </a:cubicBezTo>
                <a:lnTo>
                  <a:pt x="190277" y="214238"/>
                </a:lnTo>
                <a:lnTo>
                  <a:pt x="256431" y="346472"/>
                </a:lnTo>
                <a:cubicBezTo>
                  <a:pt x="262310" y="358229"/>
                  <a:pt x="257547" y="372517"/>
                  <a:pt x="245790" y="378396"/>
                </a:cubicBezTo>
                <a:cubicBezTo>
                  <a:pt x="234032" y="384274"/>
                  <a:pt x="219745" y="379512"/>
                  <a:pt x="213866" y="367754"/>
                </a:cubicBezTo>
                <a:lnTo>
                  <a:pt x="147712" y="235521"/>
                </a:lnTo>
                <a:lnTo>
                  <a:pt x="79772" y="326157"/>
                </a:lnTo>
                <a:cubicBezTo>
                  <a:pt x="75158" y="332333"/>
                  <a:pt x="67121" y="334789"/>
                  <a:pt x="59829" y="332408"/>
                </a:cubicBezTo>
                <a:cubicBezTo>
                  <a:pt x="52536" y="330026"/>
                  <a:pt x="47625" y="323180"/>
                  <a:pt x="47625" y="315516"/>
                </a:cubicBezTo>
                <a:lnTo>
                  <a:pt x="47625" y="17859"/>
                </a:lnTo>
                <a:cubicBezTo>
                  <a:pt x="47625" y="11088"/>
                  <a:pt x="51420" y="4911"/>
                  <a:pt x="57522" y="186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69662" y="3117516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Clickable Hotspots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69662" y="3422316"/>
            <a:ext cx="455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 frames together to simulate navigation and user flows.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73788" y="2921000"/>
            <a:ext cx="5638800" cy="1219200"/>
          </a:xfrm>
          <a:custGeom>
            <a:avLst/>
            <a:gdLst/>
            <a:ahLst/>
            <a:cxnLst/>
            <a:rect l="l" t="t" r="r" b="b"/>
            <a:pathLst>
              <a:path w="5638800" h="1219200">
                <a:moveTo>
                  <a:pt x="101596" y="0"/>
                </a:moveTo>
                <a:lnTo>
                  <a:pt x="5537204" y="0"/>
                </a:lnTo>
                <a:cubicBezTo>
                  <a:pt x="5593314" y="0"/>
                  <a:pt x="5638800" y="45486"/>
                  <a:pt x="5638800" y="101596"/>
                </a:cubicBezTo>
                <a:lnTo>
                  <a:pt x="5638800" y="1117604"/>
                </a:lnTo>
                <a:cubicBezTo>
                  <a:pt x="5638800" y="1173714"/>
                  <a:pt x="5593314" y="1219200"/>
                  <a:pt x="55372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15088" y="334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6540" y="9079"/>
                </a:moveTo>
                <a:lnTo>
                  <a:pt x="230907" y="74712"/>
                </a:lnTo>
                <a:lnTo>
                  <a:pt x="306288" y="150093"/>
                </a:lnTo>
                <a:lnTo>
                  <a:pt x="371921" y="84460"/>
                </a:lnTo>
                <a:cubicBezTo>
                  <a:pt x="377726" y="78581"/>
                  <a:pt x="381000" y="70693"/>
                  <a:pt x="381000" y="62508"/>
                </a:cubicBezTo>
                <a:cubicBezTo>
                  <a:pt x="381000" y="54322"/>
                  <a:pt x="377726" y="46434"/>
                  <a:pt x="371921" y="40556"/>
                </a:cubicBezTo>
                <a:lnTo>
                  <a:pt x="340444" y="9079"/>
                </a:lnTo>
                <a:cubicBezTo>
                  <a:pt x="334566" y="3274"/>
                  <a:pt x="326678" y="0"/>
                  <a:pt x="318492" y="0"/>
                </a:cubicBezTo>
                <a:cubicBezTo>
                  <a:pt x="310307" y="0"/>
                  <a:pt x="302419" y="3274"/>
                  <a:pt x="296540" y="9079"/>
                </a:cubicBezTo>
                <a:close/>
                <a:moveTo>
                  <a:pt x="205680" y="99938"/>
                </a:moveTo>
                <a:lnTo>
                  <a:pt x="9079" y="296540"/>
                </a:lnTo>
                <a:cubicBezTo>
                  <a:pt x="3274" y="302419"/>
                  <a:pt x="0" y="310307"/>
                  <a:pt x="0" y="318492"/>
                </a:cubicBezTo>
                <a:cubicBezTo>
                  <a:pt x="0" y="326678"/>
                  <a:pt x="3274" y="334566"/>
                  <a:pt x="9079" y="340444"/>
                </a:cubicBezTo>
                <a:lnTo>
                  <a:pt x="40556" y="371921"/>
                </a:lnTo>
                <a:cubicBezTo>
                  <a:pt x="46434" y="377726"/>
                  <a:pt x="54322" y="381000"/>
                  <a:pt x="62508" y="381000"/>
                </a:cubicBezTo>
                <a:cubicBezTo>
                  <a:pt x="70693" y="381000"/>
                  <a:pt x="78581" y="377726"/>
                  <a:pt x="84460" y="371921"/>
                </a:cubicBezTo>
                <a:lnTo>
                  <a:pt x="281062" y="175320"/>
                </a:lnTo>
                <a:lnTo>
                  <a:pt x="205680" y="99938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41675" y="31242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Animate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41675" y="3429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smooth transitions between states for a realistic feel.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79800" y="4902868"/>
            <a:ext cx="5638800" cy="1219200"/>
          </a:xfrm>
          <a:custGeom>
            <a:avLst/>
            <a:gdLst/>
            <a:ahLst/>
            <a:cxnLst/>
            <a:rect l="l" t="t" r="r" b="b"/>
            <a:pathLst>
              <a:path w="5638800" h="1219200">
                <a:moveTo>
                  <a:pt x="101596" y="0"/>
                </a:moveTo>
                <a:lnTo>
                  <a:pt x="5537204" y="0"/>
                </a:lnTo>
                <a:cubicBezTo>
                  <a:pt x="5593314" y="0"/>
                  <a:pt x="5638800" y="45486"/>
                  <a:pt x="5638800" y="101596"/>
                </a:cubicBezTo>
                <a:lnTo>
                  <a:pt x="5638800" y="1117604"/>
                </a:lnTo>
                <a:cubicBezTo>
                  <a:pt x="5638800" y="1173714"/>
                  <a:pt x="5593314" y="1219200"/>
                  <a:pt x="55372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708400" y="532196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20381" y="5106068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 Components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20381" y="5410868"/>
            <a:ext cx="459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components with variants for toggles, buttons, and menus.</a:t>
            </a:r>
            <a:endParaRPr lang="en-US" sz="1600" dirty="0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2515FA9-06EC-FFBE-6FBB-D27170EBA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53A36AE-8521-AC71-9A06-C91F5191A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Usability Testing Facilitation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778081"/>
            <a:ext cx="1191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structured approach to observing real users and gathering feedback to drive design refinements and prove ROI.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04816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00AEE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5370" y="3429161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6446" y="4419761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Recruit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" y="4775361"/>
            <a:ext cx="217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participants that match your persona profiles.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60" y="304816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080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89960" y="3429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9479" y="32415"/>
                </a:moveTo>
                <a:cubicBezTo>
                  <a:pt x="129213" y="39201"/>
                  <a:pt x="131534" y="52596"/>
                  <a:pt x="124748" y="62240"/>
                </a:cubicBezTo>
                <a:lnTo>
                  <a:pt x="74741" y="133677"/>
                </a:lnTo>
                <a:cubicBezTo>
                  <a:pt x="71080" y="138857"/>
                  <a:pt x="65365" y="142161"/>
                  <a:pt x="59025" y="142696"/>
                </a:cubicBezTo>
                <a:cubicBezTo>
                  <a:pt x="52685" y="143232"/>
                  <a:pt x="46434" y="141089"/>
                  <a:pt x="41970" y="136624"/>
                </a:cubicBezTo>
                <a:lnTo>
                  <a:pt x="6251" y="100905"/>
                </a:lnTo>
                <a:cubicBezTo>
                  <a:pt x="-2054" y="92512"/>
                  <a:pt x="-2054" y="78938"/>
                  <a:pt x="6251" y="70545"/>
                </a:cubicBezTo>
                <a:cubicBezTo>
                  <a:pt x="14555" y="62151"/>
                  <a:pt x="28218" y="62240"/>
                  <a:pt x="36612" y="70545"/>
                </a:cubicBezTo>
                <a:lnTo>
                  <a:pt x="54293" y="88225"/>
                </a:lnTo>
                <a:lnTo>
                  <a:pt x="89654" y="37683"/>
                </a:lnTo>
                <a:cubicBezTo>
                  <a:pt x="96441" y="27950"/>
                  <a:pt x="109835" y="25628"/>
                  <a:pt x="119479" y="32415"/>
                </a:cubicBezTo>
                <a:close/>
                <a:moveTo>
                  <a:pt x="119479" y="175290"/>
                </a:moveTo>
                <a:cubicBezTo>
                  <a:pt x="129213" y="182076"/>
                  <a:pt x="131534" y="195471"/>
                  <a:pt x="124748" y="205115"/>
                </a:cubicBezTo>
                <a:lnTo>
                  <a:pt x="74741" y="276552"/>
                </a:lnTo>
                <a:cubicBezTo>
                  <a:pt x="71080" y="281732"/>
                  <a:pt x="65365" y="285036"/>
                  <a:pt x="59025" y="285571"/>
                </a:cubicBezTo>
                <a:cubicBezTo>
                  <a:pt x="52685" y="286107"/>
                  <a:pt x="46434" y="283964"/>
                  <a:pt x="41970" y="279499"/>
                </a:cubicBezTo>
                <a:lnTo>
                  <a:pt x="6251" y="243780"/>
                </a:lnTo>
                <a:cubicBezTo>
                  <a:pt x="-2143" y="235387"/>
                  <a:pt x="-2143" y="221813"/>
                  <a:pt x="6251" y="213509"/>
                </a:cubicBezTo>
                <a:cubicBezTo>
                  <a:pt x="14645" y="205204"/>
                  <a:pt x="28218" y="205115"/>
                  <a:pt x="36522" y="213509"/>
                </a:cubicBezTo>
                <a:lnTo>
                  <a:pt x="54203" y="231190"/>
                </a:lnTo>
                <a:lnTo>
                  <a:pt x="89565" y="180648"/>
                </a:lnTo>
                <a:cubicBezTo>
                  <a:pt x="96351" y="170914"/>
                  <a:pt x="109746" y="168592"/>
                  <a:pt x="119390" y="175379"/>
                </a:cubicBezTo>
                <a:close/>
                <a:moveTo>
                  <a:pt x="200025" y="85725"/>
                </a:moveTo>
                <a:cubicBezTo>
                  <a:pt x="200025" y="69919"/>
                  <a:pt x="212794" y="57150"/>
                  <a:pt x="228600" y="57150"/>
                </a:cubicBez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28600" y="114300"/>
                </a:lnTo>
                <a:cubicBezTo>
                  <a:pt x="212794" y="114300"/>
                  <a:pt x="200025" y="101531"/>
                  <a:pt x="200025" y="85725"/>
                </a:cubicBezTo>
                <a:close/>
                <a:moveTo>
                  <a:pt x="200025" y="228600"/>
                </a:moveTo>
                <a:cubicBezTo>
                  <a:pt x="200025" y="212794"/>
                  <a:pt x="212794" y="200025"/>
                  <a:pt x="228600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28600" y="257175"/>
                </a:lnTo>
                <a:cubicBezTo>
                  <a:pt x="212794" y="257175"/>
                  <a:pt x="200025" y="244406"/>
                  <a:pt x="200025" y="228600"/>
                </a:cubicBezTo>
                <a:close/>
                <a:moveTo>
                  <a:pt x="142875" y="371475"/>
                </a:moveTo>
                <a:cubicBezTo>
                  <a:pt x="142875" y="355669"/>
                  <a:pt x="155644" y="342900"/>
                  <a:pt x="171450" y="342900"/>
                </a:cubicBez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171450" y="400050"/>
                </a:lnTo>
                <a:cubicBezTo>
                  <a:pt x="155644" y="400050"/>
                  <a:pt x="142875" y="387281"/>
                  <a:pt x="142875" y="371475"/>
                </a:cubicBezTo>
                <a:close/>
                <a:moveTo>
                  <a:pt x="57150" y="335756"/>
                </a:moveTo>
                <a:cubicBezTo>
                  <a:pt x="76864" y="335756"/>
                  <a:pt x="92869" y="351761"/>
                  <a:pt x="92869" y="371475"/>
                </a:cubicBezTo>
                <a:cubicBezTo>
                  <a:pt x="92869" y="391189"/>
                  <a:pt x="76864" y="407194"/>
                  <a:pt x="57150" y="407194"/>
                </a:cubicBezTo>
                <a:cubicBezTo>
                  <a:pt x="37436" y="407194"/>
                  <a:pt x="21431" y="391189"/>
                  <a:pt x="21431" y="371475"/>
                </a:cubicBezTo>
                <a:cubicBezTo>
                  <a:pt x="21431" y="351761"/>
                  <a:pt x="37436" y="335756"/>
                  <a:pt x="57150" y="3357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89300" y="4419761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Plan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31440" y="4775361"/>
            <a:ext cx="217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tasks, success metrics, and a moderator script.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304816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C200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38825" y="3429161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998" y="4419761"/>
            <a:ext cx="130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Facilitate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08880" y="4775361"/>
            <a:ext cx="217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the think-aloud technique and observe without bias.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0" y="304816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5E5E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1990" y="3429161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74794" y="4419761"/>
            <a:ext cx="119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Analyze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86320" y="4775361"/>
            <a:ext cx="217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 patterns, pain points, and areas for improvement.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41280" y="294656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33333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622280" y="3327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1291" y="4318161"/>
            <a:ext cx="104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Iterate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63760" y="4673761"/>
            <a:ext cx="2171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 findings back into the design process to refine the solution.</a:t>
            </a:r>
            <a:endParaRPr lang="en-US" sz="1600" dirty="0"/>
          </a:p>
        </p:txBody>
      </p:sp>
      <p:pic>
        <p:nvPicPr>
          <p:cNvPr id="24" name="Picture 5">
            <a:extLst>
              <a:ext uri="{FF2B5EF4-FFF2-40B4-BE49-F238E27FC236}">
                <a16:creationId xmlns:a16="http://schemas.microsoft.com/office/drawing/2014/main" id="{DFDC14AA-306C-C538-811E-5AFBFF03D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D4951288-5ED4-A39D-5C51-83302DAE8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Heuristic Evaluation Toolkit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65200"/>
            <a:ext cx="1168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reviews quickly detect usability issues, supplementing user tests to ensure both expert compliance and user satisfaction.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981200"/>
            <a:ext cx="5689600" cy="3758119"/>
          </a:xfrm>
          <a:custGeom>
            <a:avLst/>
            <a:gdLst/>
            <a:ahLst/>
            <a:cxnLst/>
            <a:rect l="l" t="t" r="r" b="b"/>
            <a:pathLst>
              <a:path w="5689600" h="46228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521191"/>
                </a:lnTo>
                <a:cubicBezTo>
                  <a:pt x="5689600" y="4577308"/>
                  <a:pt x="5644108" y="4622800"/>
                  <a:pt x="5587991" y="4622800"/>
                </a:cubicBezTo>
                <a:lnTo>
                  <a:pt x="101609" y="4622800"/>
                </a:lnTo>
                <a:cubicBezTo>
                  <a:pt x="45492" y="4622800"/>
                  <a:pt x="0" y="4577308"/>
                  <a:pt x="0" y="45211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1844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Nielsen's 10 Heuristics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13" y="27811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050" y="2743045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Visibility of system status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13" y="31367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050" y="3098645"/>
            <a:ext cx="226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 system &amp; real world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13" y="34923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050" y="3454245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control &amp; freedom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13" y="38479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1050" y="3809845"/>
            <a:ext cx="214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 &amp; standards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13" y="42035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050" y="4165445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prevention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26752" y="27811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14090" y="2743045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Recognition over recall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26752" y="31367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14090" y="3098645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Flexibility &amp; efficiency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6752" y="34923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14090" y="3454245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Aesthetic &amp; minimalist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26752" y="38479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4090" y="3809845"/>
            <a:ext cx="236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Help users recognize errors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26752" y="420354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14090" y="4165445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Help &amp; documentation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8400" y="1981200"/>
            <a:ext cx="5689600" cy="3758119"/>
          </a:xfrm>
          <a:custGeom>
            <a:avLst/>
            <a:gdLst/>
            <a:ahLst/>
            <a:cxnLst/>
            <a:rect l="l" t="t" r="r" b="b"/>
            <a:pathLst>
              <a:path w="5689600" h="46228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521191"/>
                </a:lnTo>
                <a:cubicBezTo>
                  <a:pt x="5689600" y="4577308"/>
                  <a:pt x="5644108" y="4622800"/>
                  <a:pt x="5587991" y="4622800"/>
                </a:cubicBezTo>
                <a:lnTo>
                  <a:pt x="101609" y="4622800"/>
                </a:lnTo>
                <a:cubicBezTo>
                  <a:pt x="45492" y="4622800"/>
                  <a:pt x="0" y="4577308"/>
                  <a:pt x="0" y="45211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51600" y="21844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Accessibility Checkpoints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1600" y="2743045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 the product is usable by people with the widest range of abilities. Key checks include: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350504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56083" y="59000"/>
                </a:moveTo>
                <a:cubicBezTo>
                  <a:pt x="51847" y="57195"/>
                  <a:pt x="46950" y="59139"/>
                  <a:pt x="45145" y="63376"/>
                </a:cubicBezTo>
                <a:cubicBezTo>
                  <a:pt x="43339" y="67613"/>
                  <a:pt x="45283" y="72509"/>
                  <a:pt x="49520" y="74315"/>
                </a:cubicBezTo>
                <a:lnTo>
                  <a:pt x="53653" y="76086"/>
                </a:lnTo>
                <a:cubicBezTo>
                  <a:pt x="59660" y="78656"/>
                  <a:pt x="65876" y="80566"/>
                  <a:pt x="72266" y="81746"/>
                </a:cubicBezTo>
                <a:lnTo>
                  <a:pt x="72266" y="99144"/>
                </a:lnTo>
                <a:cubicBezTo>
                  <a:pt x="72266" y="100638"/>
                  <a:pt x="72023" y="102131"/>
                  <a:pt x="71537" y="103520"/>
                </a:cubicBezTo>
                <a:lnTo>
                  <a:pt x="61570" y="133419"/>
                </a:lnTo>
                <a:cubicBezTo>
                  <a:pt x="60112" y="137795"/>
                  <a:pt x="62473" y="142518"/>
                  <a:pt x="66849" y="143976"/>
                </a:cubicBezTo>
                <a:cubicBezTo>
                  <a:pt x="71224" y="145435"/>
                  <a:pt x="75947" y="143073"/>
                  <a:pt x="77406" y="138698"/>
                </a:cubicBezTo>
                <a:lnTo>
                  <a:pt x="85879" y="113278"/>
                </a:lnTo>
                <a:cubicBezTo>
                  <a:pt x="86330" y="111958"/>
                  <a:pt x="87546" y="111056"/>
                  <a:pt x="88935" y="111056"/>
                </a:cubicBezTo>
                <a:cubicBezTo>
                  <a:pt x="90324" y="111056"/>
                  <a:pt x="91574" y="111958"/>
                  <a:pt x="91991" y="113278"/>
                </a:cubicBezTo>
                <a:lnTo>
                  <a:pt x="100464" y="138698"/>
                </a:lnTo>
                <a:cubicBezTo>
                  <a:pt x="101922" y="143073"/>
                  <a:pt x="106645" y="145435"/>
                  <a:pt x="111021" y="143976"/>
                </a:cubicBezTo>
                <a:cubicBezTo>
                  <a:pt x="115396" y="142518"/>
                  <a:pt x="117723" y="137864"/>
                  <a:pt x="116265" y="133489"/>
                </a:cubicBezTo>
                <a:lnTo>
                  <a:pt x="106298" y="103589"/>
                </a:lnTo>
                <a:cubicBezTo>
                  <a:pt x="105812" y="102166"/>
                  <a:pt x="105569" y="100707"/>
                  <a:pt x="105569" y="99214"/>
                </a:cubicBezTo>
                <a:lnTo>
                  <a:pt x="105569" y="81816"/>
                </a:lnTo>
                <a:cubicBezTo>
                  <a:pt x="111958" y="80600"/>
                  <a:pt x="118174" y="78725"/>
                  <a:pt x="124182" y="76155"/>
                </a:cubicBezTo>
                <a:lnTo>
                  <a:pt x="128315" y="74384"/>
                </a:lnTo>
                <a:cubicBezTo>
                  <a:pt x="132551" y="72579"/>
                  <a:pt x="134496" y="67682"/>
                  <a:pt x="132690" y="63445"/>
                </a:cubicBezTo>
                <a:cubicBezTo>
                  <a:pt x="130884" y="59209"/>
                  <a:pt x="125988" y="57264"/>
                  <a:pt x="121751" y="59070"/>
                </a:cubicBezTo>
                <a:lnTo>
                  <a:pt x="117619" y="60771"/>
                </a:lnTo>
                <a:cubicBezTo>
                  <a:pt x="108555" y="64661"/>
                  <a:pt x="98797" y="66675"/>
                  <a:pt x="88900" y="66675"/>
                </a:cubicBezTo>
                <a:cubicBezTo>
                  <a:pt x="79003" y="66675"/>
                  <a:pt x="69279" y="64661"/>
                  <a:pt x="60181" y="60771"/>
                </a:cubicBezTo>
                <a:lnTo>
                  <a:pt x="56049" y="59000"/>
                </a:lnTo>
                <a:close/>
                <a:moveTo>
                  <a:pt x="88900" y="55563"/>
                </a:moveTo>
                <a:cubicBezTo>
                  <a:pt x="96566" y="55563"/>
                  <a:pt x="102791" y="49338"/>
                  <a:pt x="102791" y="41672"/>
                </a:cubicBezTo>
                <a:cubicBezTo>
                  <a:pt x="102791" y="34005"/>
                  <a:pt x="96566" y="27781"/>
                  <a:pt x="88900" y="27781"/>
                </a:cubicBezTo>
                <a:cubicBezTo>
                  <a:pt x="81234" y="27781"/>
                  <a:pt x="75009" y="34005"/>
                  <a:pt x="75009" y="41672"/>
                </a:cubicBezTo>
                <a:cubicBezTo>
                  <a:pt x="75009" y="49338"/>
                  <a:pt x="81234" y="55563"/>
                  <a:pt x="88900" y="5556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47987" y="3454245"/>
            <a:ext cx="499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Keyboard Navigation: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Can all functions be accessed without a mouse?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4138" y="4114645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11112"/>
                </a:moveTo>
                <a:cubicBezTo>
                  <a:pt x="71953" y="11112"/>
                  <a:pt x="49485" y="23892"/>
                  <a:pt x="33129" y="39102"/>
                </a:cubicBezTo>
                <a:cubicBezTo>
                  <a:pt x="16877" y="54208"/>
                  <a:pt x="6008" y="72231"/>
                  <a:pt x="833" y="84629"/>
                </a:cubicBezTo>
                <a:cubicBezTo>
                  <a:pt x="-313" y="87372"/>
                  <a:pt x="-313" y="90428"/>
                  <a:pt x="833" y="93171"/>
                </a:cubicBezTo>
                <a:cubicBezTo>
                  <a:pt x="6008" y="105569"/>
                  <a:pt x="16877" y="123627"/>
                  <a:pt x="33129" y="138698"/>
                </a:cubicBezTo>
                <a:cubicBezTo>
                  <a:pt x="49485" y="153873"/>
                  <a:pt x="71953" y="166688"/>
                  <a:pt x="100013" y="166688"/>
                </a:cubicBezTo>
                <a:cubicBezTo>
                  <a:pt x="128072" y="166688"/>
                  <a:pt x="150540" y="153908"/>
                  <a:pt x="166896" y="138698"/>
                </a:cubicBezTo>
                <a:cubicBezTo>
                  <a:pt x="183148" y="123592"/>
                  <a:pt x="194017" y="105569"/>
                  <a:pt x="199192" y="93171"/>
                </a:cubicBezTo>
                <a:cubicBezTo>
                  <a:pt x="200338" y="90428"/>
                  <a:pt x="200338" y="87372"/>
                  <a:pt x="199192" y="84629"/>
                </a:cubicBezTo>
                <a:cubicBezTo>
                  <a:pt x="194017" y="72231"/>
                  <a:pt x="183148" y="54173"/>
                  <a:pt x="166896" y="39102"/>
                </a:cubicBezTo>
                <a:cubicBezTo>
                  <a:pt x="150540" y="23927"/>
                  <a:pt x="128072" y="11112"/>
                  <a:pt x="100013" y="11112"/>
                </a:cubicBezTo>
                <a:close/>
                <a:moveTo>
                  <a:pt x="50006" y="88900"/>
                </a:moveTo>
                <a:cubicBezTo>
                  <a:pt x="50006" y="61301"/>
                  <a:pt x="72413" y="38894"/>
                  <a:pt x="100013" y="38894"/>
                </a:cubicBezTo>
                <a:cubicBezTo>
                  <a:pt x="127612" y="38894"/>
                  <a:pt x="150019" y="61301"/>
                  <a:pt x="150019" y="88900"/>
                </a:cubicBezTo>
                <a:cubicBezTo>
                  <a:pt x="150019" y="116499"/>
                  <a:pt x="127612" y="138906"/>
                  <a:pt x="100013" y="138906"/>
                </a:cubicBezTo>
                <a:cubicBezTo>
                  <a:pt x="72413" y="138906"/>
                  <a:pt x="50006" y="116499"/>
                  <a:pt x="50006" y="88900"/>
                </a:cubicBezTo>
                <a:close/>
                <a:moveTo>
                  <a:pt x="100013" y="66675"/>
                </a:moveTo>
                <a:cubicBezTo>
                  <a:pt x="100013" y="78933"/>
                  <a:pt x="90046" y="88900"/>
                  <a:pt x="77788" y="88900"/>
                </a:cubicBezTo>
                <a:cubicBezTo>
                  <a:pt x="73794" y="88900"/>
                  <a:pt x="70043" y="87858"/>
                  <a:pt x="66779" y="85983"/>
                </a:cubicBezTo>
                <a:cubicBezTo>
                  <a:pt x="66432" y="89768"/>
                  <a:pt x="66744" y="93658"/>
                  <a:pt x="67786" y="97512"/>
                </a:cubicBezTo>
                <a:cubicBezTo>
                  <a:pt x="72544" y="115292"/>
                  <a:pt x="90845" y="125849"/>
                  <a:pt x="108625" y="121092"/>
                </a:cubicBezTo>
                <a:cubicBezTo>
                  <a:pt x="126405" y="116334"/>
                  <a:pt x="136962" y="98033"/>
                  <a:pt x="132204" y="80253"/>
                </a:cubicBezTo>
                <a:cubicBezTo>
                  <a:pt x="127967" y="64383"/>
                  <a:pt x="112931" y="54278"/>
                  <a:pt x="97095" y="55667"/>
                </a:cubicBezTo>
                <a:cubicBezTo>
                  <a:pt x="98936" y="58896"/>
                  <a:pt x="100013" y="62647"/>
                  <a:pt x="100013" y="66675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2269" y="4063845"/>
            <a:ext cx="501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 Reader Compatibility: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the content structured logically for assistive tech?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4300" y="472424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5575" y="88900"/>
                </a:moveTo>
                <a:cubicBezTo>
                  <a:pt x="155575" y="52090"/>
                  <a:pt x="125710" y="22225"/>
                  <a:pt x="88900" y="22225"/>
                </a:cubicBezTo>
                <a:lnTo>
                  <a:pt x="88900" y="155575"/>
                </a:lnTo>
                <a:cubicBezTo>
                  <a:pt x="125710" y="155575"/>
                  <a:pt x="155575" y="125710"/>
                  <a:pt x="155575" y="88900"/>
                </a:cubicBezTo>
                <a:close/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58146" y="4673445"/>
            <a:ext cx="497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Color Contrast: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 text and background colors meet WCAG ratios?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0" y="533384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99005" y="17606"/>
                </a:moveTo>
                <a:cubicBezTo>
                  <a:pt x="97200" y="13648"/>
                  <a:pt x="93241" y="11112"/>
                  <a:pt x="88900" y="11112"/>
                </a:cubicBezTo>
                <a:cubicBezTo>
                  <a:pt x="84559" y="11112"/>
                  <a:pt x="80600" y="13648"/>
                  <a:pt x="78795" y="17606"/>
                </a:cubicBezTo>
                <a:lnTo>
                  <a:pt x="20662" y="144463"/>
                </a:lnTo>
                <a:lnTo>
                  <a:pt x="16669" y="144463"/>
                </a:lnTo>
                <a:cubicBezTo>
                  <a:pt x="10522" y="144463"/>
                  <a:pt x="5556" y="149428"/>
                  <a:pt x="5556" y="155575"/>
                </a:cubicBezTo>
                <a:cubicBezTo>
                  <a:pt x="5556" y="161722"/>
                  <a:pt x="10522" y="166688"/>
                  <a:pt x="16669" y="166688"/>
                </a:cubicBezTo>
                <a:lnTo>
                  <a:pt x="47228" y="166688"/>
                </a:lnTo>
                <a:cubicBezTo>
                  <a:pt x="53375" y="166688"/>
                  <a:pt x="58341" y="161722"/>
                  <a:pt x="58341" y="155575"/>
                </a:cubicBezTo>
                <a:cubicBezTo>
                  <a:pt x="58341" y="149428"/>
                  <a:pt x="53375" y="144463"/>
                  <a:pt x="47228" y="144463"/>
                </a:cubicBezTo>
                <a:lnTo>
                  <a:pt x="45110" y="144463"/>
                </a:lnTo>
                <a:lnTo>
                  <a:pt x="52750" y="127794"/>
                </a:lnTo>
                <a:lnTo>
                  <a:pt x="125085" y="127794"/>
                </a:lnTo>
                <a:lnTo>
                  <a:pt x="132725" y="144463"/>
                </a:lnTo>
                <a:lnTo>
                  <a:pt x="130607" y="144463"/>
                </a:lnTo>
                <a:cubicBezTo>
                  <a:pt x="124460" y="144463"/>
                  <a:pt x="119494" y="149428"/>
                  <a:pt x="119494" y="155575"/>
                </a:cubicBezTo>
                <a:cubicBezTo>
                  <a:pt x="119494" y="161722"/>
                  <a:pt x="124460" y="166688"/>
                  <a:pt x="130607" y="166688"/>
                </a:cubicBezTo>
                <a:lnTo>
                  <a:pt x="161166" y="166688"/>
                </a:lnTo>
                <a:cubicBezTo>
                  <a:pt x="167313" y="166688"/>
                  <a:pt x="172278" y="161722"/>
                  <a:pt x="172278" y="155575"/>
                </a:cubicBezTo>
                <a:cubicBezTo>
                  <a:pt x="172278" y="149428"/>
                  <a:pt x="167313" y="144463"/>
                  <a:pt x="161166" y="144463"/>
                </a:cubicBezTo>
                <a:lnTo>
                  <a:pt x="157172" y="144463"/>
                </a:lnTo>
                <a:lnTo>
                  <a:pt x="99040" y="17606"/>
                </a:lnTo>
                <a:close/>
                <a:moveTo>
                  <a:pt x="114875" y="105569"/>
                </a:moveTo>
                <a:lnTo>
                  <a:pt x="62925" y="105569"/>
                </a:lnTo>
                <a:lnTo>
                  <a:pt x="88900" y="48895"/>
                </a:lnTo>
                <a:lnTo>
                  <a:pt x="114875" y="105569"/>
                </a:ln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75450" y="5283045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Alternatives: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 images have descriptive `alt` text?</a:t>
            </a:r>
            <a:endParaRPr lang="en-US" sz="1600" dirty="0"/>
          </a:p>
        </p:txBody>
      </p:sp>
      <p:pic>
        <p:nvPicPr>
          <p:cNvPr id="37" name="Picture 5">
            <a:extLst>
              <a:ext uri="{FF2B5EF4-FFF2-40B4-BE49-F238E27FC236}">
                <a16:creationId xmlns:a16="http://schemas.microsoft.com/office/drawing/2014/main" id="{DFCAB566-F779-0BD6-8455-019D3A4A2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B51EDE40-7C11-06B3-E501-5741A2C9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45640" y="5245784"/>
            <a:ext cx="8643620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&amp; Interaction Design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05</a:t>
            </a: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38BF89F-72A9-358A-24ED-86DAAF2C5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38558BCE-3E2F-861B-3A06-BBA3C1B0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"/>
            <a:ext cx="5626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Typography &amp; Readability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244600"/>
            <a:ext cx="56261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Typographic clarity reduces eye strain, accelerates scanning, and strengthens brand voice. It's about more than just choosing a pretty font.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616200"/>
            <a:ext cx="5626100" cy="1270000"/>
          </a:xfrm>
          <a:custGeom>
            <a:avLst/>
            <a:gdLst/>
            <a:ahLst/>
            <a:cxnLst/>
            <a:rect l="l" t="t" r="r" b="b"/>
            <a:pathLst>
              <a:path w="5626100" h="1270000">
                <a:moveTo>
                  <a:pt x="101600" y="0"/>
                </a:moveTo>
                <a:lnTo>
                  <a:pt x="5524500" y="0"/>
                </a:lnTo>
                <a:cubicBezTo>
                  <a:pt x="5580575" y="0"/>
                  <a:pt x="5626100" y="45525"/>
                  <a:pt x="5626100" y="101600"/>
                </a:cubicBezTo>
                <a:lnTo>
                  <a:pt x="5626100" y="1168400"/>
                </a:lnTo>
                <a:cubicBezTo>
                  <a:pt x="5626100" y="1224475"/>
                  <a:pt x="5580575" y="1270000"/>
                  <a:pt x="5524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819400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 &amp;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750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a clear visual hierarchy with distinct sizes for H1, H2, H3, and body text. A ratio of 1:1.5:2 is a good starting point.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89400"/>
            <a:ext cx="5626100" cy="1270000"/>
          </a:xfrm>
          <a:custGeom>
            <a:avLst/>
            <a:gdLst/>
            <a:ahLst/>
            <a:cxnLst/>
            <a:rect l="l" t="t" r="r" b="b"/>
            <a:pathLst>
              <a:path w="5626100" h="1270000">
                <a:moveTo>
                  <a:pt x="101600" y="0"/>
                </a:moveTo>
                <a:lnTo>
                  <a:pt x="5524500" y="0"/>
                </a:lnTo>
                <a:cubicBezTo>
                  <a:pt x="5580575" y="0"/>
                  <a:pt x="5626100" y="45525"/>
                  <a:pt x="5626100" y="101600"/>
                </a:cubicBezTo>
                <a:lnTo>
                  <a:pt x="5626100" y="1168400"/>
                </a:lnTo>
                <a:cubicBezTo>
                  <a:pt x="5626100" y="1224475"/>
                  <a:pt x="5580575" y="1270000"/>
                  <a:pt x="5524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292600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 Length &amp; Spacing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482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line length between 50-75 characters for optimal readability. Ensure adequate line height (1.4-1.6x font size).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5562600"/>
            <a:ext cx="5626100" cy="1270000"/>
          </a:xfrm>
          <a:custGeom>
            <a:avLst/>
            <a:gdLst/>
            <a:ahLst/>
            <a:cxnLst/>
            <a:rect l="l" t="t" r="r" b="b"/>
            <a:pathLst>
              <a:path w="5626100" h="1270000">
                <a:moveTo>
                  <a:pt x="101600" y="0"/>
                </a:moveTo>
                <a:lnTo>
                  <a:pt x="5524500" y="0"/>
                </a:lnTo>
                <a:cubicBezTo>
                  <a:pt x="5580575" y="0"/>
                  <a:pt x="5626100" y="45525"/>
                  <a:pt x="5626100" y="101600"/>
                </a:cubicBezTo>
                <a:lnTo>
                  <a:pt x="5626100" y="1168400"/>
                </a:lnTo>
                <a:cubicBezTo>
                  <a:pt x="5626100" y="1224475"/>
                  <a:pt x="5580575" y="1270000"/>
                  <a:pt x="5524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5765800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WCAG Contrast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1214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 a contrast ratio of at least 4.5:1 for normal text and 3:1 for large text to be accessible to users with low vision.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3960" y="254000"/>
            <a:ext cx="5651500" cy="6350000"/>
          </a:xfrm>
          <a:custGeom>
            <a:avLst/>
            <a:gdLst/>
            <a:ahLst/>
            <a:cxnLst/>
            <a:rect l="l" t="t" r="r" b="b"/>
            <a:pathLst>
              <a:path w="5651500" h="6350000">
                <a:moveTo>
                  <a:pt x="101614" y="0"/>
                </a:moveTo>
                <a:lnTo>
                  <a:pt x="5549886" y="0"/>
                </a:lnTo>
                <a:cubicBezTo>
                  <a:pt x="5606006" y="0"/>
                  <a:pt x="5651500" y="45494"/>
                  <a:pt x="5651500" y="101614"/>
                </a:cubicBezTo>
                <a:lnTo>
                  <a:pt x="5651500" y="6248386"/>
                </a:lnTo>
                <a:cubicBezTo>
                  <a:pt x="5651500" y="6304506"/>
                  <a:pt x="5606006" y="6350000"/>
                  <a:pt x="5549886" y="6350000"/>
                </a:cubicBezTo>
                <a:lnTo>
                  <a:pt x="101614" y="6350000"/>
                </a:lnTo>
                <a:cubicBezTo>
                  <a:pt x="45494" y="6350000"/>
                  <a:pt x="0" y="6304506"/>
                  <a:pt x="0" y="62483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90360" y="901700"/>
            <a:ext cx="514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 Hierarchy 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90360" y="1511145"/>
            <a:ext cx="5448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Title (H1)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90360" y="2120745"/>
            <a:ext cx="501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48px Bold - The most important heading on the page.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0360" y="2577945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Subheading (H2)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0360" y="3035145"/>
            <a:ext cx="501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32px Semibold - Used for main sections.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90360" y="3492345"/>
            <a:ext cx="509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Section Title (H3)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90360" y="3847945"/>
            <a:ext cx="501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24px Semibold - For sub-sections and key points.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90360" y="4305145"/>
            <a:ext cx="48387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is the body text. It should be easy to read and scan. A comfortable font size (16-18px) and line height are crucial for a good user experience. This is where the majority of your content will live, so its readability is paramount.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 Psychology &amp; Systems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65200"/>
            <a:ext cx="1191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 cultural meanings and emotional impact while ensuring accessibility through systematic color token usage.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625600"/>
            <a:ext cx="5689600" cy="4978400"/>
          </a:xfrm>
          <a:custGeom>
            <a:avLst/>
            <a:gdLst/>
            <a:ahLst/>
            <a:cxnLst/>
            <a:rect l="l" t="t" r="r" b="b"/>
            <a:pathLst>
              <a:path w="5689600" h="49784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876791"/>
                </a:lnTo>
                <a:cubicBezTo>
                  <a:pt x="5689600" y="4932908"/>
                  <a:pt x="5644108" y="4978400"/>
                  <a:pt x="5587991" y="4978400"/>
                </a:cubicBezTo>
                <a:lnTo>
                  <a:pt x="101609" y="4978400"/>
                </a:lnTo>
                <a:cubicBezTo>
                  <a:pt x="45492" y="4978400"/>
                  <a:pt x="0" y="4932908"/>
                  <a:pt x="0" y="4876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8800" y="1930400"/>
            <a:ext cx="538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Psychology &amp;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2539845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7600" y="2590645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Trust, Security, Calm (Finance, Tech)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" y="3098645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7600" y="3149445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Yellow: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Optimism, Clarity, Warmth (Retail, Food)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" y="3759045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7600" y="3657445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Excitement, Urgency, Passion (Sales, Entertainment)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" y="4521045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7600" y="4419445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Green: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Growth, Health, Tranquility (Nature, Finance)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1625600"/>
            <a:ext cx="5689600" cy="4978400"/>
          </a:xfrm>
          <a:custGeom>
            <a:avLst/>
            <a:gdLst/>
            <a:ahLst/>
            <a:cxnLst/>
            <a:rect l="l" t="t" r="r" b="b"/>
            <a:pathLst>
              <a:path w="5689600" h="4978400">
                <a:moveTo>
                  <a:pt x="101609" y="0"/>
                </a:moveTo>
                <a:lnTo>
                  <a:pt x="5587991" y="0"/>
                </a:lnTo>
                <a:cubicBezTo>
                  <a:pt x="5644108" y="0"/>
                  <a:pt x="5689600" y="45492"/>
                  <a:pt x="5689600" y="101609"/>
                </a:cubicBezTo>
                <a:lnTo>
                  <a:pt x="5689600" y="4876791"/>
                </a:lnTo>
                <a:cubicBezTo>
                  <a:pt x="5689600" y="4932908"/>
                  <a:pt x="5644108" y="4978400"/>
                  <a:pt x="5587991" y="4978400"/>
                </a:cubicBezTo>
                <a:lnTo>
                  <a:pt x="101609" y="4978400"/>
                </a:lnTo>
                <a:cubicBezTo>
                  <a:pt x="45492" y="4978400"/>
                  <a:pt x="0" y="4932908"/>
                  <a:pt x="0" y="4876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53200" y="1930400"/>
            <a:ext cx="5384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Systematic Color Tokens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200" y="2539845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scalable system ensures consistent branding and accessibility across themes.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53200" y="3251045"/>
            <a:ext cx="5080000" cy="914400"/>
          </a:xfrm>
          <a:custGeom>
            <a:avLst/>
            <a:gdLst/>
            <a:ahLst/>
            <a:cxnLst/>
            <a:rect l="l" t="t" r="r" b="b"/>
            <a:pathLst>
              <a:path w="5080000" h="914400">
                <a:moveTo>
                  <a:pt x="76197" y="0"/>
                </a:moveTo>
                <a:lnTo>
                  <a:pt x="5003803" y="0"/>
                </a:lnTo>
                <a:cubicBezTo>
                  <a:pt x="5045885" y="0"/>
                  <a:pt x="5080000" y="34115"/>
                  <a:pt x="5080000" y="76197"/>
                </a:cubicBezTo>
                <a:lnTo>
                  <a:pt x="5080000" y="838203"/>
                </a:lnTo>
                <a:cubicBezTo>
                  <a:pt x="5080000" y="880285"/>
                  <a:pt x="5045885" y="914400"/>
                  <a:pt x="500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05600" y="34034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05600" y="340344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18400" y="3454245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Primary / Brand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8400" y="3759045"/>
            <a:ext cx="321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 brand color for key actions and accents.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3200" y="4317845"/>
            <a:ext cx="5080000" cy="914400"/>
          </a:xfrm>
          <a:custGeom>
            <a:avLst/>
            <a:gdLst/>
            <a:ahLst/>
            <a:cxnLst/>
            <a:rect l="l" t="t" r="r" b="b"/>
            <a:pathLst>
              <a:path w="5080000" h="914400">
                <a:moveTo>
                  <a:pt x="76197" y="0"/>
                </a:moveTo>
                <a:lnTo>
                  <a:pt x="5003803" y="0"/>
                </a:lnTo>
                <a:cubicBezTo>
                  <a:pt x="5045885" y="0"/>
                  <a:pt x="5080000" y="34115"/>
                  <a:pt x="5080000" y="76197"/>
                </a:cubicBezTo>
                <a:lnTo>
                  <a:pt x="5080000" y="838203"/>
                </a:lnTo>
                <a:cubicBezTo>
                  <a:pt x="5080000" y="880285"/>
                  <a:pt x="5045885" y="914400"/>
                  <a:pt x="500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05600" y="44702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5600" y="447024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18400" y="4521045"/>
            <a:ext cx="309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18400" y="4825845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destructive actions and warning states.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53200" y="5384645"/>
            <a:ext cx="5080000" cy="914400"/>
          </a:xfrm>
          <a:custGeom>
            <a:avLst/>
            <a:gdLst/>
            <a:ahLst/>
            <a:cxnLst/>
            <a:rect l="l" t="t" r="r" b="b"/>
            <a:pathLst>
              <a:path w="5080000" h="914400">
                <a:moveTo>
                  <a:pt x="76197" y="0"/>
                </a:moveTo>
                <a:lnTo>
                  <a:pt x="5003803" y="0"/>
                </a:lnTo>
                <a:cubicBezTo>
                  <a:pt x="5045885" y="0"/>
                  <a:pt x="5080000" y="34115"/>
                  <a:pt x="5080000" y="76197"/>
                </a:cubicBezTo>
                <a:lnTo>
                  <a:pt x="5080000" y="838203"/>
                </a:lnTo>
                <a:cubicBezTo>
                  <a:pt x="5080000" y="880285"/>
                  <a:pt x="5045885" y="914400"/>
                  <a:pt x="500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05600" y="55370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05600" y="553704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18400" y="5587845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18400" y="5892645"/>
            <a:ext cx="307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confirm positive actions and completion.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635000"/>
            <a:ext cx="5626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Micro-interactions &amp; Feedback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854200"/>
            <a:ext cx="56261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Small, functional animations that communicate system status, guide task completion, and inject delight, increasing perceived responsiveness and user trust.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225800"/>
            <a:ext cx="5626100" cy="1270000"/>
          </a:xfrm>
          <a:custGeom>
            <a:avLst/>
            <a:gdLst/>
            <a:ahLst/>
            <a:cxnLst/>
            <a:rect l="l" t="t" r="r" b="b"/>
            <a:pathLst>
              <a:path w="5626100" h="1270000">
                <a:moveTo>
                  <a:pt x="101600" y="0"/>
                </a:moveTo>
                <a:lnTo>
                  <a:pt x="5524500" y="0"/>
                </a:lnTo>
                <a:cubicBezTo>
                  <a:pt x="5580575" y="0"/>
                  <a:pt x="5626100" y="45525"/>
                  <a:pt x="5626100" y="101600"/>
                </a:cubicBezTo>
                <a:lnTo>
                  <a:pt x="5626100" y="1168400"/>
                </a:lnTo>
                <a:cubicBezTo>
                  <a:pt x="5626100" y="1224475"/>
                  <a:pt x="5580575" y="1270000"/>
                  <a:pt x="5524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Four Parts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84600"/>
            <a:ext cx="521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(initiates), </a:t>
            </a: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(defines action), </a:t>
            </a: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(signals change), </a:t>
            </a: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Loop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(duration/repetition).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699000"/>
            <a:ext cx="5626100" cy="1524000"/>
          </a:xfrm>
          <a:custGeom>
            <a:avLst/>
            <a:gdLst/>
            <a:ahLst/>
            <a:cxnLst/>
            <a:rect l="l" t="t" r="r" b="b"/>
            <a:pathLst>
              <a:path w="5626100" h="1524000">
                <a:moveTo>
                  <a:pt x="101605" y="0"/>
                </a:moveTo>
                <a:lnTo>
                  <a:pt x="5524495" y="0"/>
                </a:lnTo>
                <a:cubicBezTo>
                  <a:pt x="5580610" y="0"/>
                  <a:pt x="5626100" y="45490"/>
                  <a:pt x="5626100" y="101605"/>
                </a:cubicBezTo>
                <a:lnTo>
                  <a:pt x="5626100" y="1422395"/>
                </a:lnTo>
                <a:cubicBezTo>
                  <a:pt x="5626100" y="1478510"/>
                  <a:pt x="5580610" y="1524000"/>
                  <a:pt x="55244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902200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Purposeful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57800"/>
            <a:ext cx="5219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micro-interaction should have a clear purpose. Avoid gratuitous animations that slow down the user or distract from the task.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8088" y="254000"/>
            <a:ext cx="5651500" cy="6350000"/>
          </a:xfrm>
          <a:custGeom>
            <a:avLst/>
            <a:gdLst/>
            <a:ahLst/>
            <a:cxnLst/>
            <a:rect l="l" t="t" r="r" b="b"/>
            <a:pathLst>
              <a:path w="5651500" h="6350000">
                <a:moveTo>
                  <a:pt x="101614" y="0"/>
                </a:moveTo>
                <a:lnTo>
                  <a:pt x="5549886" y="0"/>
                </a:lnTo>
                <a:cubicBezTo>
                  <a:pt x="5606006" y="0"/>
                  <a:pt x="5651500" y="45494"/>
                  <a:pt x="5651500" y="101614"/>
                </a:cubicBezTo>
                <a:lnTo>
                  <a:pt x="5651500" y="6248386"/>
                </a:lnTo>
                <a:cubicBezTo>
                  <a:pt x="5651500" y="6304506"/>
                  <a:pt x="5606006" y="6350000"/>
                  <a:pt x="5549886" y="6350000"/>
                </a:cubicBezTo>
                <a:lnTo>
                  <a:pt x="101614" y="6350000"/>
                </a:lnTo>
                <a:cubicBezTo>
                  <a:pt x="45494" y="6350000"/>
                  <a:pt x="0" y="6304506"/>
                  <a:pt x="0" y="62483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44327" y="1066800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 in 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0688" y="180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08888" y="18796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 Press Animation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0688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08888" y="29972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Pull-to-Refresh Cue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99263" y="4038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08888" y="41148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Haptic Confirmation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70688" y="5156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08888" y="52324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State Indicator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6604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Component-Based Design Systems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778000"/>
            <a:ext cx="5435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design system is a collection of reusable components guided by clear standards. It allows teams to build products faster and more consistently by assembling interfaces from documented building blocks.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02000"/>
            <a:ext cx="5435600" cy="609600"/>
          </a:xfrm>
          <a:custGeom>
            <a:avLst/>
            <a:gdLst/>
            <a:ahLst/>
            <a:cxnLst/>
            <a:rect l="l" t="t" r="r" b="b"/>
            <a:pathLst>
              <a:path w="5435600" h="609600">
                <a:moveTo>
                  <a:pt x="76200" y="0"/>
                </a:moveTo>
                <a:lnTo>
                  <a:pt x="5359400" y="0"/>
                </a:lnTo>
                <a:cubicBezTo>
                  <a:pt x="5401456" y="0"/>
                  <a:pt x="5435600" y="34144"/>
                  <a:pt x="5435600" y="76200"/>
                </a:cubicBezTo>
                <a:lnTo>
                  <a:pt x="5435600" y="533400"/>
                </a:lnTo>
                <a:cubicBezTo>
                  <a:pt x="5435600" y="575456"/>
                  <a:pt x="5401456" y="609600"/>
                  <a:pt x="5359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56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9900" y="3505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158274"/>
                </a:moveTo>
                <a:cubicBezTo>
                  <a:pt x="84217" y="160298"/>
                  <a:pt x="79613" y="162123"/>
                  <a:pt x="75049" y="163632"/>
                </a:cubicBezTo>
                <a:cubicBezTo>
                  <a:pt x="81677" y="177046"/>
                  <a:pt x="87352" y="177800"/>
                  <a:pt x="88900" y="177800"/>
                </a:cubicBezTo>
                <a:cubicBezTo>
                  <a:pt x="90448" y="177800"/>
                  <a:pt x="96083" y="177046"/>
                  <a:pt x="102751" y="163632"/>
                </a:cubicBezTo>
                <a:cubicBezTo>
                  <a:pt x="98227" y="162084"/>
                  <a:pt x="93583" y="160298"/>
                  <a:pt x="88900" y="158274"/>
                </a:cubicBezTo>
                <a:close/>
                <a:moveTo>
                  <a:pt x="164306" y="101600"/>
                </a:moveTo>
                <a:cubicBezTo>
                  <a:pt x="177403" y="119539"/>
                  <a:pt x="181888" y="137676"/>
                  <a:pt x="173673" y="152400"/>
                </a:cubicBezTo>
                <a:cubicBezTo>
                  <a:pt x="165656" y="166807"/>
                  <a:pt x="148868" y="171966"/>
                  <a:pt x="127953" y="169545"/>
                </a:cubicBezTo>
                <a:cubicBezTo>
                  <a:pt x="119221" y="190222"/>
                  <a:pt x="105847" y="203200"/>
                  <a:pt x="88900" y="203200"/>
                </a:cubicBezTo>
                <a:cubicBezTo>
                  <a:pt x="71953" y="203200"/>
                  <a:pt x="58579" y="190222"/>
                  <a:pt x="49848" y="169545"/>
                </a:cubicBezTo>
                <a:cubicBezTo>
                  <a:pt x="28932" y="171966"/>
                  <a:pt x="12144" y="166807"/>
                  <a:pt x="4128" y="152400"/>
                </a:cubicBezTo>
                <a:cubicBezTo>
                  <a:pt x="-4088" y="137676"/>
                  <a:pt x="397" y="119539"/>
                  <a:pt x="13494" y="101600"/>
                </a:cubicBezTo>
                <a:cubicBezTo>
                  <a:pt x="397" y="83661"/>
                  <a:pt x="-4088" y="65524"/>
                  <a:pt x="4128" y="50800"/>
                </a:cubicBezTo>
                <a:cubicBezTo>
                  <a:pt x="12144" y="36393"/>
                  <a:pt x="28932" y="31234"/>
                  <a:pt x="49848" y="33655"/>
                </a:cubicBezTo>
                <a:cubicBezTo>
                  <a:pt x="58579" y="12978"/>
                  <a:pt x="71914" y="0"/>
                  <a:pt x="88900" y="0"/>
                </a:cubicBezTo>
                <a:cubicBezTo>
                  <a:pt x="105886" y="0"/>
                  <a:pt x="119221" y="12978"/>
                  <a:pt x="127953" y="33655"/>
                </a:cubicBezTo>
                <a:cubicBezTo>
                  <a:pt x="148868" y="31234"/>
                  <a:pt x="165656" y="36354"/>
                  <a:pt x="173673" y="50800"/>
                </a:cubicBezTo>
                <a:cubicBezTo>
                  <a:pt x="181888" y="65524"/>
                  <a:pt x="177403" y="83661"/>
                  <a:pt x="164306" y="101600"/>
                </a:cubicBezTo>
                <a:close/>
                <a:moveTo>
                  <a:pt x="138192" y="128349"/>
                </a:moveTo>
                <a:cubicBezTo>
                  <a:pt x="137517" y="133985"/>
                  <a:pt x="136644" y="139462"/>
                  <a:pt x="135533" y="144701"/>
                </a:cubicBezTo>
                <a:cubicBezTo>
                  <a:pt x="148153" y="145256"/>
                  <a:pt x="150852" y="141248"/>
                  <a:pt x="151487" y="140057"/>
                </a:cubicBezTo>
                <a:cubicBezTo>
                  <a:pt x="152400" y="138390"/>
                  <a:pt x="154265" y="132953"/>
                  <a:pt x="146764" y="120967"/>
                </a:cubicBezTo>
                <a:cubicBezTo>
                  <a:pt x="144066" y="123468"/>
                  <a:pt x="141208" y="125928"/>
                  <a:pt x="138192" y="128349"/>
                </a:cubicBezTo>
                <a:close/>
                <a:moveTo>
                  <a:pt x="135533" y="58539"/>
                </a:moveTo>
                <a:cubicBezTo>
                  <a:pt x="136644" y="63738"/>
                  <a:pt x="137517" y="69215"/>
                  <a:pt x="138192" y="74890"/>
                </a:cubicBezTo>
                <a:cubicBezTo>
                  <a:pt x="141208" y="77311"/>
                  <a:pt x="144066" y="79772"/>
                  <a:pt x="146764" y="82272"/>
                </a:cubicBezTo>
                <a:cubicBezTo>
                  <a:pt x="154265" y="70287"/>
                  <a:pt x="152400" y="64810"/>
                  <a:pt x="151487" y="63182"/>
                </a:cubicBezTo>
                <a:cubicBezTo>
                  <a:pt x="150852" y="62032"/>
                  <a:pt x="148153" y="58023"/>
                  <a:pt x="135533" y="58539"/>
                </a:cubicBezTo>
                <a:close/>
                <a:moveTo>
                  <a:pt x="102751" y="39568"/>
                </a:moveTo>
                <a:cubicBezTo>
                  <a:pt x="96083" y="26154"/>
                  <a:pt x="90448" y="25400"/>
                  <a:pt x="88900" y="25400"/>
                </a:cubicBezTo>
                <a:cubicBezTo>
                  <a:pt x="87352" y="25400"/>
                  <a:pt x="81717" y="26154"/>
                  <a:pt x="75049" y="39568"/>
                </a:cubicBezTo>
                <a:cubicBezTo>
                  <a:pt x="79573" y="41116"/>
                  <a:pt x="84217" y="42902"/>
                  <a:pt x="88900" y="44926"/>
                </a:cubicBezTo>
                <a:cubicBezTo>
                  <a:pt x="93583" y="42902"/>
                  <a:pt x="98187" y="41077"/>
                  <a:pt x="102751" y="39568"/>
                </a:cubicBezTo>
                <a:close/>
                <a:moveTo>
                  <a:pt x="39648" y="74851"/>
                </a:moveTo>
                <a:cubicBezTo>
                  <a:pt x="40322" y="69175"/>
                  <a:pt x="41196" y="63738"/>
                  <a:pt x="42307" y="58499"/>
                </a:cubicBezTo>
                <a:cubicBezTo>
                  <a:pt x="29686" y="57944"/>
                  <a:pt x="26987" y="61952"/>
                  <a:pt x="26352" y="63143"/>
                </a:cubicBezTo>
                <a:cubicBezTo>
                  <a:pt x="25440" y="64810"/>
                  <a:pt x="23574" y="70247"/>
                  <a:pt x="31075" y="82233"/>
                </a:cubicBezTo>
                <a:cubicBezTo>
                  <a:pt x="33774" y="79732"/>
                  <a:pt x="36632" y="77272"/>
                  <a:pt x="39648" y="74851"/>
                </a:cubicBezTo>
                <a:close/>
                <a:moveTo>
                  <a:pt x="31036" y="120968"/>
                </a:moveTo>
                <a:cubicBezTo>
                  <a:pt x="23535" y="132953"/>
                  <a:pt x="25400" y="138430"/>
                  <a:pt x="26313" y="140057"/>
                </a:cubicBezTo>
                <a:cubicBezTo>
                  <a:pt x="26948" y="141208"/>
                  <a:pt x="29647" y="145217"/>
                  <a:pt x="42267" y="144701"/>
                </a:cubicBezTo>
                <a:cubicBezTo>
                  <a:pt x="41156" y="139502"/>
                  <a:pt x="40283" y="134025"/>
                  <a:pt x="39608" y="128349"/>
                </a:cubicBezTo>
                <a:cubicBezTo>
                  <a:pt x="36592" y="125928"/>
                  <a:pt x="33734" y="123468"/>
                  <a:pt x="31036" y="120968"/>
                </a:cubicBezTo>
                <a:close/>
                <a:moveTo>
                  <a:pt x="120650" y="101600"/>
                </a:moveTo>
                <a:cubicBezTo>
                  <a:pt x="120650" y="84077"/>
                  <a:pt x="106423" y="69850"/>
                  <a:pt x="88900" y="69850"/>
                </a:cubicBezTo>
                <a:cubicBezTo>
                  <a:pt x="71377" y="69850"/>
                  <a:pt x="57150" y="84077"/>
                  <a:pt x="57150" y="101600"/>
                </a:cubicBezTo>
                <a:cubicBezTo>
                  <a:pt x="57150" y="119123"/>
                  <a:pt x="71377" y="133350"/>
                  <a:pt x="88900" y="133350"/>
                </a:cubicBezTo>
                <a:cubicBezTo>
                  <a:pt x="106423" y="133350"/>
                  <a:pt x="120650" y="119123"/>
                  <a:pt x="120650" y="101600"/>
                </a:cubicBezTo>
                <a:close/>
                <a:moveTo>
                  <a:pt x="88900" y="88900"/>
                </a:moveTo>
                <a:cubicBezTo>
                  <a:pt x="95909" y="88900"/>
                  <a:pt x="101600" y="94591"/>
                  <a:pt x="101600" y="101600"/>
                </a:cubicBezTo>
                <a:cubicBezTo>
                  <a:pt x="101600" y="108609"/>
                  <a:pt x="95909" y="114300"/>
                  <a:pt x="88900" y="114300"/>
                </a:cubicBezTo>
                <a:cubicBezTo>
                  <a:pt x="81891" y="114300"/>
                  <a:pt x="76200" y="108609"/>
                  <a:pt x="76200" y="101600"/>
                </a:cubicBezTo>
                <a:cubicBezTo>
                  <a:pt x="76200" y="94591"/>
                  <a:pt x="81891" y="88900"/>
                  <a:pt x="88900" y="889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4544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Atoms: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5929" y="3479800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Buttons, Inputs, Labels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4000" y="4064000"/>
            <a:ext cx="5435600" cy="609600"/>
          </a:xfrm>
          <a:custGeom>
            <a:avLst/>
            <a:gdLst/>
            <a:ahLst/>
            <a:cxnLst/>
            <a:rect l="l" t="t" r="r" b="b"/>
            <a:pathLst>
              <a:path w="5435600" h="609600">
                <a:moveTo>
                  <a:pt x="76200" y="0"/>
                </a:moveTo>
                <a:lnTo>
                  <a:pt x="5359400" y="0"/>
                </a:lnTo>
                <a:cubicBezTo>
                  <a:pt x="5401456" y="0"/>
                  <a:pt x="5435600" y="34144"/>
                  <a:pt x="5435600" y="76200"/>
                </a:cubicBezTo>
                <a:lnTo>
                  <a:pt x="5435600" y="533400"/>
                </a:lnTo>
                <a:cubicBezTo>
                  <a:pt x="5435600" y="575456"/>
                  <a:pt x="5401456" y="609600"/>
                  <a:pt x="5359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5600" y="416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4267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89019" y="-992"/>
                </a:moveTo>
                <a:cubicBezTo>
                  <a:pt x="96877" y="-5517"/>
                  <a:pt x="106561" y="-5517"/>
                  <a:pt x="114419" y="-992"/>
                </a:cubicBezTo>
                <a:lnTo>
                  <a:pt x="184229" y="39291"/>
                </a:lnTo>
                <a:cubicBezTo>
                  <a:pt x="192088" y="43815"/>
                  <a:pt x="196929" y="52229"/>
                  <a:pt x="196929" y="61278"/>
                </a:cubicBezTo>
                <a:lnTo>
                  <a:pt x="196929" y="141843"/>
                </a:lnTo>
                <a:cubicBezTo>
                  <a:pt x="196929" y="150932"/>
                  <a:pt x="192088" y="159306"/>
                  <a:pt x="184229" y="163830"/>
                </a:cubicBezTo>
                <a:lnTo>
                  <a:pt x="114419" y="204192"/>
                </a:lnTo>
                <a:cubicBezTo>
                  <a:pt x="106561" y="208717"/>
                  <a:pt x="96877" y="208717"/>
                  <a:pt x="89019" y="204192"/>
                </a:cubicBezTo>
                <a:lnTo>
                  <a:pt x="19248" y="163909"/>
                </a:lnTo>
                <a:cubicBezTo>
                  <a:pt x="11390" y="159385"/>
                  <a:pt x="6548" y="150971"/>
                  <a:pt x="6548" y="141923"/>
                </a:cubicBezTo>
                <a:lnTo>
                  <a:pt x="6548" y="61357"/>
                </a:lnTo>
                <a:cubicBezTo>
                  <a:pt x="6548" y="52268"/>
                  <a:pt x="11390" y="43894"/>
                  <a:pt x="19248" y="39370"/>
                </a:cubicBezTo>
                <a:lnTo>
                  <a:pt x="89019" y="-992"/>
                </a:lnTo>
                <a:close/>
                <a:moveTo>
                  <a:pt x="171490" y="141883"/>
                </a:moveTo>
                <a:lnTo>
                  <a:pt x="171490" y="75962"/>
                </a:lnTo>
                <a:lnTo>
                  <a:pt x="114419" y="108903"/>
                </a:lnTo>
                <a:lnTo>
                  <a:pt x="114419" y="174823"/>
                </a:lnTo>
                <a:lnTo>
                  <a:pt x="171490" y="14188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2164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Molecules: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66131" y="42418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Bar, Card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" y="4826000"/>
            <a:ext cx="5435600" cy="609600"/>
          </a:xfrm>
          <a:custGeom>
            <a:avLst/>
            <a:gdLst/>
            <a:ahLst/>
            <a:cxnLst/>
            <a:rect l="l" t="t" r="r" b="b"/>
            <a:pathLst>
              <a:path w="5435600" h="609600">
                <a:moveTo>
                  <a:pt x="76200" y="0"/>
                </a:moveTo>
                <a:lnTo>
                  <a:pt x="5359400" y="0"/>
                </a:lnTo>
                <a:cubicBezTo>
                  <a:pt x="5401456" y="0"/>
                  <a:pt x="5435600" y="34144"/>
                  <a:pt x="5435600" y="76200"/>
                </a:cubicBezTo>
                <a:lnTo>
                  <a:pt x="5435600" y="533400"/>
                </a:lnTo>
                <a:cubicBezTo>
                  <a:pt x="5435600" y="575456"/>
                  <a:pt x="5401456" y="609600"/>
                  <a:pt x="5359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5600" y="492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88900" y="0"/>
                </a:moveTo>
                <a:cubicBezTo>
                  <a:pt x="102910" y="0"/>
                  <a:pt x="114300" y="8533"/>
                  <a:pt x="114300" y="19050"/>
                </a:cubicBezTo>
                <a:cubicBezTo>
                  <a:pt x="114300" y="23178"/>
                  <a:pt x="112554" y="26988"/>
                  <a:pt x="109538" y="30123"/>
                </a:cubicBezTo>
                <a:cubicBezTo>
                  <a:pt x="106918" y="32861"/>
                  <a:pt x="104775" y="36195"/>
                  <a:pt x="104775" y="40005"/>
                </a:cubicBezTo>
                <a:cubicBezTo>
                  <a:pt x="104775" y="45958"/>
                  <a:pt x="109617" y="50800"/>
                  <a:pt x="115570" y="50800"/>
                </a:cubicBezTo>
                <a:lnTo>
                  <a:pt x="133350" y="50800"/>
                </a:lnTo>
                <a:cubicBezTo>
                  <a:pt x="143867" y="50800"/>
                  <a:pt x="152400" y="59333"/>
                  <a:pt x="152400" y="69850"/>
                </a:cubicBezTo>
                <a:lnTo>
                  <a:pt x="152400" y="87630"/>
                </a:lnTo>
                <a:cubicBezTo>
                  <a:pt x="152400" y="93583"/>
                  <a:pt x="157242" y="98425"/>
                  <a:pt x="163195" y="98425"/>
                </a:cubicBezTo>
                <a:cubicBezTo>
                  <a:pt x="166965" y="98425"/>
                  <a:pt x="170339" y="96282"/>
                  <a:pt x="173077" y="93663"/>
                </a:cubicBezTo>
                <a:cubicBezTo>
                  <a:pt x="176212" y="90686"/>
                  <a:pt x="180023" y="88900"/>
                  <a:pt x="184150" y="88900"/>
                </a:cubicBezTo>
                <a:cubicBezTo>
                  <a:pt x="194667" y="88900"/>
                  <a:pt x="203200" y="100290"/>
                  <a:pt x="203200" y="114300"/>
                </a:cubicBezTo>
                <a:cubicBezTo>
                  <a:pt x="203200" y="128310"/>
                  <a:pt x="194667" y="139700"/>
                  <a:pt x="184150" y="139700"/>
                </a:cubicBezTo>
                <a:cubicBezTo>
                  <a:pt x="180023" y="139700"/>
                  <a:pt x="176173" y="137954"/>
                  <a:pt x="173077" y="134938"/>
                </a:cubicBezTo>
                <a:cubicBezTo>
                  <a:pt x="170339" y="132318"/>
                  <a:pt x="167005" y="130175"/>
                  <a:pt x="163195" y="130175"/>
                </a:cubicBezTo>
                <a:cubicBezTo>
                  <a:pt x="157242" y="130175"/>
                  <a:pt x="152400" y="135017"/>
                  <a:pt x="152400" y="140970"/>
                </a:cubicBezTo>
                <a:lnTo>
                  <a:pt x="152400" y="184150"/>
                </a:lnTo>
                <a:cubicBezTo>
                  <a:pt x="152400" y="194667"/>
                  <a:pt x="143867" y="203200"/>
                  <a:pt x="133350" y="203200"/>
                </a:cubicBezTo>
                <a:lnTo>
                  <a:pt x="110808" y="203200"/>
                </a:lnTo>
                <a:cubicBezTo>
                  <a:pt x="105727" y="203200"/>
                  <a:pt x="101600" y="199073"/>
                  <a:pt x="101600" y="193993"/>
                </a:cubicBezTo>
                <a:cubicBezTo>
                  <a:pt x="101600" y="190341"/>
                  <a:pt x="103902" y="187127"/>
                  <a:pt x="106839" y="184944"/>
                </a:cubicBezTo>
                <a:cubicBezTo>
                  <a:pt x="111443" y="181491"/>
                  <a:pt x="114300" y="176728"/>
                  <a:pt x="114300" y="171450"/>
                </a:cubicBezTo>
                <a:cubicBezTo>
                  <a:pt x="114300" y="160933"/>
                  <a:pt x="102910" y="152400"/>
                  <a:pt x="88900" y="152400"/>
                </a:cubicBezTo>
                <a:cubicBezTo>
                  <a:pt x="74890" y="152400"/>
                  <a:pt x="63500" y="160933"/>
                  <a:pt x="63500" y="171450"/>
                </a:cubicBezTo>
                <a:cubicBezTo>
                  <a:pt x="63500" y="176728"/>
                  <a:pt x="66357" y="181491"/>
                  <a:pt x="70961" y="184944"/>
                </a:cubicBezTo>
                <a:cubicBezTo>
                  <a:pt x="73898" y="187127"/>
                  <a:pt x="76200" y="190302"/>
                  <a:pt x="76200" y="193993"/>
                </a:cubicBezTo>
                <a:cubicBezTo>
                  <a:pt x="76200" y="199073"/>
                  <a:pt x="72073" y="203200"/>
                  <a:pt x="66993" y="203200"/>
                </a:cubicBezTo>
                <a:lnTo>
                  <a:pt x="19050" y="203200"/>
                </a:lnTo>
                <a:cubicBezTo>
                  <a:pt x="8533" y="203200"/>
                  <a:pt x="0" y="194667"/>
                  <a:pt x="0" y="184150"/>
                </a:cubicBezTo>
                <a:lnTo>
                  <a:pt x="0" y="136208"/>
                </a:lnTo>
                <a:cubicBezTo>
                  <a:pt x="0" y="131128"/>
                  <a:pt x="4128" y="127000"/>
                  <a:pt x="9207" y="127000"/>
                </a:cubicBezTo>
                <a:cubicBezTo>
                  <a:pt x="12859" y="127000"/>
                  <a:pt x="16073" y="129302"/>
                  <a:pt x="18256" y="132239"/>
                </a:cubicBezTo>
                <a:cubicBezTo>
                  <a:pt x="21709" y="136843"/>
                  <a:pt x="26472" y="139700"/>
                  <a:pt x="31750" y="139700"/>
                </a:cubicBezTo>
                <a:cubicBezTo>
                  <a:pt x="42267" y="139700"/>
                  <a:pt x="50800" y="128310"/>
                  <a:pt x="50800" y="114300"/>
                </a:cubicBezTo>
                <a:cubicBezTo>
                  <a:pt x="50800" y="100290"/>
                  <a:pt x="42267" y="88900"/>
                  <a:pt x="31750" y="88900"/>
                </a:cubicBezTo>
                <a:cubicBezTo>
                  <a:pt x="26472" y="88900"/>
                  <a:pt x="21709" y="91757"/>
                  <a:pt x="18256" y="96361"/>
                </a:cubicBezTo>
                <a:cubicBezTo>
                  <a:pt x="16073" y="99298"/>
                  <a:pt x="12898" y="101600"/>
                  <a:pt x="9207" y="101600"/>
                </a:cubicBezTo>
                <a:cubicBezTo>
                  <a:pt x="4128" y="101600"/>
                  <a:pt x="0" y="97473"/>
                  <a:pt x="0" y="92393"/>
                </a:cubicBezTo>
                <a:lnTo>
                  <a:pt x="0" y="69850"/>
                </a:lnTo>
                <a:cubicBezTo>
                  <a:pt x="0" y="59333"/>
                  <a:pt x="8533" y="50800"/>
                  <a:pt x="19050" y="50800"/>
                </a:cubicBezTo>
                <a:lnTo>
                  <a:pt x="62230" y="50800"/>
                </a:lnTo>
                <a:cubicBezTo>
                  <a:pt x="68183" y="50800"/>
                  <a:pt x="73025" y="45958"/>
                  <a:pt x="73025" y="40005"/>
                </a:cubicBezTo>
                <a:cubicBezTo>
                  <a:pt x="73025" y="36235"/>
                  <a:pt x="70882" y="32861"/>
                  <a:pt x="68263" y="30123"/>
                </a:cubicBezTo>
                <a:cubicBezTo>
                  <a:pt x="65286" y="26988"/>
                  <a:pt x="63500" y="23178"/>
                  <a:pt x="63500" y="19050"/>
                </a:cubicBezTo>
                <a:cubicBezTo>
                  <a:pt x="63500" y="8533"/>
                  <a:pt x="74890" y="0"/>
                  <a:pt x="889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97840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Organisms: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45348" y="5003800"/>
            <a:ext cx="185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Header, Product Grid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" y="5588000"/>
            <a:ext cx="5435600" cy="609600"/>
          </a:xfrm>
          <a:custGeom>
            <a:avLst/>
            <a:gdLst/>
            <a:ahLst/>
            <a:cxnLst/>
            <a:rect l="l" t="t" r="r" b="b"/>
            <a:pathLst>
              <a:path w="5435600" h="609600">
                <a:moveTo>
                  <a:pt x="76200" y="0"/>
                </a:moveTo>
                <a:lnTo>
                  <a:pt x="5359400" y="0"/>
                </a:lnTo>
                <a:cubicBezTo>
                  <a:pt x="5401456" y="0"/>
                  <a:pt x="5435600" y="34144"/>
                  <a:pt x="5435600" y="76200"/>
                </a:cubicBezTo>
                <a:lnTo>
                  <a:pt x="5435600" y="533400"/>
                </a:lnTo>
                <a:cubicBezTo>
                  <a:pt x="5435600" y="575456"/>
                  <a:pt x="5401456" y="609600"/>
                  <a:pt x="5359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EE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5600" y="568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900" y="5791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52400" y="38100"/>
                </a:moveTo>
                <a:lnTo>
                  <a:pt x="101600" y="38100"/>
                </a:lnTo>
                <a:lnTo>
                  <a:pt x="101600" y="88900"/>
                </a:lnTo>
                <a:lnTo>
                  <a:pt x="152400" y="88900"/>
                </a:lnTo>
                <a:lnTo>
                  <a:pt x="152400" y="38100"/>
                </a:lnTo>
                <a:close/>
                <a:moveTo>
                  <a:pt x="177800" y="88900"/>
                </a:moveTo>
                <a:lnTo>
                  <a:pt x="177800" y="165100"/>
                </a:lnTo>
                <a:cubicBezTo>
                  <a:pt x="177800" y="179110"/>
                  <a:pt x="166410" y="190500"/>
                  <a:pt x="152400" y="190500"/>
                </a:cubicBezTo>
                <a:lnTo>
                  <a:pt x="25400" y="190500"/>
                </a:lnTo>
                <a:cubicBezTo>
                  <a:pt x="11390" y="190500"/>
                  <a:pt x="0" y="179110"/>
                  <a:pt x="0" y="165100"/>
                </a:cubicBezTo>
                <a:lnTo>
                  <a:pt x="0" y="38100"/>
                </a:lnTo>
                <a:cubicBezTo>
                  <a:pt x="0" y="24090"/>
                  <a:pt x="11390" y="12700"/>
                  <a:pt x="25400" y="12700"/>
                </a:cubicBezTo>
                <a:lnTo>
                  <a:pt x="152400" y="12700"/>
                </a:lnTo>
                <a:cubicBezTo>
                  <a:pt x="166410" y="12700"/>
                  <a:pt x="177800" y="24090"/>
                  <a:pt x="177800" y="38100"/>
                </a:cubicBezTo>
                <a:lnTo>
                  <a:pt x="177800" y="88900"/>
                </a:lnTo>
                <a:close/>
                <a:moveTo>
                  <a:pt x="25400" y="114300"/>
                </a:moveTo>
                <a:lnTo>
                  <a:pt x="25400" y="165100"/>
                </a:lnTo>
                <a:lnTo>
                  <a:pt x="76200" y="165100"/>
                </a:lnTo>
                <a:lnTo>
                  <a:pt x="76200" y="114300"/>
                </a:lnTo>
                <a:lnTo>
                  <a:pt x="25400" y="114300"/>
                </a:lnTo>
                <a:close/>
                <a:moveTo>
                  <a:pt x="76200" y="88900"/>
                </a:moveTo>
                <a:lnTo>
                  <a:pt x="76200" y="38100"/>
                </a:lnTo>
                <a:lnTo>
                  <a:pt x="25400" y="38100"/>
                </a:lnTo>
                <a:lnTo>
                  <a:pt x="25400" y="88900"/>
                </a:lnTo>
                <a:lnTo>
                  <a:pt x="76200" y="88900"/>
                </a:lnTo>
                <a:close/>
                <a:moveTo>
                  <a:pt x="101600" y="114300"/>
                </a:moveTo>
                <a:lnTo>
                  <a:pt x="101600" y="165100"/>
                </a:lnTo>
                <a:lnTo>
                  <a:pt x="152400" y="165100"/>
                </a:lnTo>
                <a:lnTo>
                  <a:pt x="152400" y="114300"/>
                </a:lnTo>
                <a:lnTo>
                  <a:pt x="101600" y="1143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7404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88833" y="5765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 Layouts</a:t>
            </a:r>
            <a:endParaRPr lang="en-US" sz="1600" dirty="0"/>
          </a:p>
        </p:txBody>
      </p:sp>
      <p:pic>
        <p:nvPicPr>
          <p:cNvPr id="24" name="Image 0" descr="https://kimi-web-img.moonshot.cn/img/images.shejidaren.com/814115b2cb326a40a2c60ccaef2f53c43101686c.jpg"/>
          <p:cNvPicPr>
            <a:picLocks noChangeAspect="1"/>
          </p:cNvPicPr>
          <p:nvPr/>
        </p:nvPicPr>
        <p:blipFill>
          <a:blip r:embed="rId3"/>
          <a:srcRect t="24202" b="24202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3200"/>
            </a:avLst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41-d2nf5d98bjvh7rliv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65" y="1141095"/>
            <a:ext cx="3619500" cy="39128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47240" y="5053965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5715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47240" y="5053965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4884420"/>
            <a:ext cx="8642985" cy="1199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20240" y="4884420"/>
            <a:ext cx="8642985" cy="1199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5045710"/>
            <a:ext cx="8643620" cy="828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7415" y="304483"/>
            <a:ext cx="564007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  06</a:t>
            </a:r>
            <a:endParaRPr lang="en-US" sz="16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9463ABB5-615F-A1BC-D307-0AB99B72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481" y="6077409"/>
            <a:ext cx="1238918" cy="55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9A0617E9-D77A-1E8C-D9DE-EC56A73CA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5" y="5925508"/>
            <a:ext cx="1550369" cy="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-228600"/>
            <a:ext cx="563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Case Study: Airbnb Redesign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4000" y="711200"/>
            <a:ext cx="5638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Analyzing Airbnb's 2022 homepage overhaul that simplified search, elevated trust cues, and personalized recommendations.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1905000"/>
            <a:ext cx="5638800" cy="1524000"/>
          </a:xfrm>
          <a:custGeom>
            <a:avLst/>
            <a:gdLst/>
            <a:ahLst/>
            <a:cxnLst/>
            <a:rect l="l" t="t" r="r" b="b"/>
            <a:pathLst>
              <a:path w="5638800" h="1524000">
                <a:moveTo>
                  <a:pt x="101605" y="0"/>
                </a:moveTo>
                <a:lnTo>
                  <a:pt x="5537195" y="0"/>
                </a:lnTo>
                <a:cubicBezTo>
                  <a:pt x="5593310" y="0"/>
                  <a:pt x="5638800" y="45490"/>
                  <a:pt x="5638800" y="101605"/>
                </a:cubicBezTo>
                <a:lnTo>
                  <a:pt x="5638800" y="1422395"/>
                </a:lnTo>
                <a:cubicBezTo>
                  <a:pt x="5638800" y="1478510"/>
                  <a:pt x="5593310" y="1524000"/>
                  <a:pt x="5537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1800" y="21082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08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" y="2463800"/>
            <a:ext cx="523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homepage felt cluttered, search was overwhelming, and users struggled to find relevant listings, leading to decision fatigue and lower conversion rates.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3632200"/>
            <a:ext cx="5638800" cy="1524000"/>
          </a:xfrm>
          <a:custGeom>
            <a:avLst/>
            <a:gdLst/>
            <a:ahLst/>
            <a:cxnLst/>
            <a:rect l="l" t="t" r="r" b="b"/>
            <a:pathLst>
              <a:path w="5638800" h="1524000">
                <a:moveTo>
                  <a:pt x="101605" y="0"/>
                </a:moveTo>
                <a:lnTo>
                  <a:pt x="5537195" y="0"/>
                </a:lnTo>
                <a:cubicBezTo>
                  <a:pt x="5593310" y="0"/>
                  <a:pt x="5638800" y="45490"/>
                  <a:pt x="5638800" y="101605"/>
                </a:cubicBezTo>
                <a:lnTo>
                  <a:pt x="5638800" y="1422395"/>
                </a:lnTo>
                <a:cubicBezTo>
                  <a:pt x="5638800" y="1478510"/>
                  <a:pt x="5593310" y="1524000"/>
                  <a:pt x="5537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1800" y="38354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C2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800" y="4191000"/>
            <a:ext cx="523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simplified search bar, larger imagery, clearer categorization, and the introduction of personalized "Categories" (e.g., Cabins, Beachfront) based on user data.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" y="5393221"/>
            <a:ext cx="5638800" cy="1270000"/>
          </a:xfrm>
          <a:custGeom>
            <a:avLst/>
            <a:gdLst/>
            <a:ahLst/>
            <a:cxnLst/>
            <a:rect l="l" t="t" r="r" b="b"/>
            <a:pathLst>
              <a:path w="5638800" h="1270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1168400"/>
                </a:lnTo>
                <a:cubicBezTo>
                  <a:pt x="5638800" y="1224475"/>
                  <a:pt x="5593275" y="1270000"/>
                  <a:pt x="553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1800" y="54610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5E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1800" y="5952021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measurable uplift in booking conversions and user satisfaction, proving the value of data-driven design and iterative prototyping.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9200" y="783121"/>
            <a:ext cx="5600700" cy="5245100"/>
          </a:xfrm>
          <a:custGeom>
            <a:avLst/>
            <a:gdLst/>
            <a:ahLst/>
            <a:cxnLst/>
            <a:rect l="l" t="t" r="r" b="b"/>
            <a:pathLst>
              <a:path w="5600700" h="5245100">
                <a:moveTo>
                  <a:pt x="101598" y="0"/>
                </a:moveTo>
                <a:lnTo>
                  <a:pt x="5499102" y="0"/>
                </a:lnTo>
                <a:cubicBezTo>
                  <a:pt x="5555213" y="0"/>
                  <a:pt x="5600700" y="45487"/>
                  <a:pt x="5600700" y="101598"/>
                </a:cubicBezTo>
                <a:lnTo>
                  <a:pt x="5600700" y="5143502"/>
                </a:lnTo>
                <a:cubicBezTo>
                  <a:pt x="5600700" y="5199613"/>
                  <a:pt x="5555213" y="5245100"/>
                  <a:pt x="5499102" y="5245100"/>
                </a:cubicBezTo>
                <a:lnTo>
                  <a:pt x="101598" y="5245100"/>
                </a:lnTo>
                <a:cubicBezTo>
                  <a:pt x="45487" y="5245100"/>
                  <a:pt x="0" y="5199613"/>
                  <a:pt x="0" y="51435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https://kimi-web-img.moonshot.cn/img/i1.wp.com/a00304bdfa8e5c0715c68cda2018a0300a16e740.jpg"/>
          <p:cNvPicPr>
            <a:picLocks noChangeAspect="1"/>
          </p:cNvPicPr>
          <p:nvPr/>
        </p:nvPicPr>
        <p:blipFill>
          <a:blip r:embed="rId3"/>
          <a:srcRect l="19891" r="19891"/>
          <a:stretch/>
        </p:blipFill>
        <p:spPr>
          <a:xfrm>
            <a:off x="6421120" y="905036"/>
            <a:ext cx="5397500" cy="5041900"/>
          </a:xfrm>
          <a:prstGeom prst="roundRect">
            <a:avLst>
              <a:gd name="adj" fmla="val 1511"/>
            </a:avLst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1214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ROI of Design Systems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65200"/>
            <a:ext cx="1191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companies like Uber, IBM, and Shopify leveraged centralized design systems for strategic advantage.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1625600"/>
            <a:ext cx="3695700" cy="4978400"/>
          </a:xfrm>
          <a:custGeom>
            <a:avLst/>
            <a:gdLst/>
            <a:ahLst/>
            <a:cxnLst/>
            <a:rect l="l" t="t" r="r" b="b"/>
            <a:pathLst>
              <a:path w="3695700" h="49784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4876805"/>
                </a:lnTo>
                <a:cubicBezTo>
                  <a:pt x="3695700" y="4932914"/>
                  <a:pt x="3650214" y="4978400"/>
                  <a:pt x="3594105" y="4978400"/>
                </a:cubicBezTo>
                <a:lnTo>
                  <a:pt x="101595" y="4978400"/>
                </a:lnTo>
                <a:cubicBezTo>
                  <a:pt x="45486" y="4978400"/>
                  <a:pt x="0" y="4932914"/>
                  <a:pt x="0" y="48768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080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1628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71027" y="220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8800" y="3149600"/>
            <a:ext cx="3086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Accelerated Release Cycles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800" y="3962400"/>
            <a:ext cx="30861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Reusable components allow teams to build products faster, reducing time-to-market.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3465" y="5892961"/>
            <a:ext cx="209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08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~50% Faster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0214" y="1625600"/>
            <a:ext cx="3695700" cy="4978400"/>
          </a:xfrm>
          <a:custGeom>
            <a:avLst/>
            <a:gdLst/>
            <a:ahLst/>
            <a:cxnLst/>
            <a:rect l="l" t="t" r="r" b="b"/>
            <a:pathLst>
              <a:path w="3695700" h="49784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4876805"/>
                </a:lnTo>
                <a:cubicBezTo>
                  <a:pt x="3695700" y="4932914"/>
                  <a:pt x="3650214" y="4978400"/>
                  <a:pt x="3594105" y="4978400"/>
                </a:cubicBezTo>
                <a:lnTo>
                  <a:pt x="101595" y="4978400"/>
                </a:lnTo>
                <a:cubicBezTo>
                  <a:pt x="45486" y="4978400"/>
                  <a:pt x="0" y="4932914"/>
                  <a:pt x="0" y="48768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C2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87841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67241" y="220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296" y="3149600"/>
            <a:ext cx="237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Brand Coherence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5014" y="3606800"/>
            <a:ext cx="30861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single source of truth ensures a consistent look and feel across all platforms and products.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3924" y="5892961"/>
            <a:ext cx="2743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C2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Consistent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46428" y="1625600"/>
            <a:ext cx="3695700" cy="4978400"/>
          </a:xfrm>
          <a:custGeom>
            <a:avLst/>
            <a:gdLst/>
            <a:ahLst/>
            <a:cxnLst/>
            <a:rect l="l" t="t" r="r" b="b"/>
            <a:pathLst>
              <a:path w="3695700" h="49784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4876805"/>
                </a:lnTo>
                <a:cubicBezTo>
                  <a:pt x="3695700" y="4932914"/>
                  <a:pt x="3650214" y="4978400"/>
                  <a:pt x="3594105" y="4978400"/>
                </a:cubicBezTo>
                <a:lnTo>
                  <a:pt x="101595" y="4978400"/>
                </a:lnTo>
                <a:cubicBezTo>
                  <a:pt x="45486" y="4978400"/>
                  <a:pt x="0" y="4932914"/>
                  <a:pt x="0" y="48768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5E5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84214" y="193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949339" y="22098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21444" y="21431"/>
                </a:moveTo>
                <a:cubicBezTo>
                  <a:pt x="121444" y="9555"/>
                  <a:pt x="130999" y="0"/>
                  <a:pt x="142875" y="0"/>
                </a:cubicBezTo>
                <a:cubicBezTo>
                  <a:pt x="154751" y="0"/>
                  <a:pt x="164306" y="9555"/>
                  <a:pt x="164306" y="21431"/>
                </a:cubicBezTo>
                <a:lnTo>
                  <a:pt x="164306" y="57150"/>
                </a:lnTo>
                <a:lnTo>
                  <a:pt x="214313" y="57150"/>
                </a:lnTo>
                <a:cubicBezTo>
                  <a:pt x="230118" y="57150"/>
                  <a:pt x="242888" y="69919"/>
                  <a:pt x="242888" y="85725"/>
                </a:cubicBezTo>
                <a:cubicBezTo>
                  <a:pt x="242888" y="101531"/>
                  <a:pt x="230118" y="114300"/>
                  <a:pt x="214313" y="114300"/>
                </a:cubicBezTo>
                <a:lnTo>
                  <a:pt x="111710" y="114300"/>
                </a:lnTo>
                <a:cubicBezTo>
                  <a:pt x="89475" y="114300"/>
                  <a:pt x="71438" y="132338"/>
                  <a:pt x="71438" y="154573"/>
                </a:cubicBezTo>
                <a:cubicBezTo>
                  <a:pt x="71438" y="174665"/>
                  <a:pt x="86171" y="191631"/>
                  <a:pt x="105995" y="194489"/>
                </a:cubicBezTo>
                <a:lnTo>
                  <a:pt x="187791" y="206186"/>
                </a:lnTo>
                <a:cubicBezTo>
                  <a:pt x="235833" y="213062"/>
                  <a:pt x="271463" y="254139"/>
                  <a:pt x="271463" y="302627"/>
                </a:cubicBezTo>
                <a:cubicBezTo>
                  <a:pt x="271463" y="356473"/>
                  <a:pt x="227796" y="400050"/>
                  <a:pt x="174040" y="400050"/>
                </a:cubicBezTo>
                <a:lnTo>
                  <a:pt x="164306" y="400050"/>
                </a:lnTo>
                <a:lnTo>
                  <a:pt x="164306" y="435769"/>
                </a:lnTo>
                <a:cubicBezTo>
                  <a:pt x="164306" y="447645"/>
                  <a:pt x="154751" y="457200"/>
                  <a:pt x="142875" y="457200"/>
                </a:cubicBezTo>
                <a:cubicBezTo>
                  <a:pt x="130999" y="457200"/>
                  <a:pt x="121444" y="447645"/>
                  <a:pt x="121444" y="435769"/>
                </a:cubicBezTo>
                <a:lnTo>
                  <a:pt x="121444" y="400050"/>
                </a:lnTo>
                <a:lnTo>
                  <a:pt x="57150" y="400050"/>
                </a:lnTo>
                <a:cubicBezTo>
                  <a:pt x="41344" y="400050"/>
                  <a:pt x="28575" y="387281"/>
                  <a:pt x="28575" y="371475"/>
                </a:cubicBezTo>
                <a:cubicBezTo>
                  <a:pt x="28575" y="355669"/>
                  <a:pt x="41344" y="342900"/>
                  <a:pt x="57150" y="342900"/>
                </a:cubicBezTo>
                <a:lnTo>
                  <a:pt x="174040" y="342900"/>
                </a:lnTo>
                <a:cubicBezTo>
                  <a:pt x="196275" y="342900"/>
                  <a:pt x="214313" y="324862"/>
                  <a:pt x="214313" y="302627"/>
                </a:cubicBezTo>
                <a:cubicBezTo>
                  <a:pt x="214313" y="282535"/>
                  <a:pt x="199579" y="265569"/>
                  <a:pt x="179755" y="262711"/>
                </a:cubicBezTo>
                <a:lnTo>
                  <a:pt x="97959" y="251014"/>
                </a:lnTo>
                <a:cubicBezTo>
                  <a:pt x="49917" y="244227"/>
                  <a:pt x="14288" y="203061"/>
                  <a:pt x="14288" y="154573"/>
                </a:cubicBezTo>
                <a:cubicBezTo>
                  <a:pt x="14288" y="100816"/>
                  <a:pt x="57954" y="57150"/>
                  <a:pt x="111710" y="57150"/>
                </a:cubicBezTo>
                <a:lnTo>
                  <a:pt x="121444" y="57150"/>
                </a:lnTo>
                <a:lnTo>
                  <a:pt x="121444" y="21431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32654" y="3149600"/>
            <a:ext cx="312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Cut Development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51228" y="3606800"/>
            <a:ext cx="30861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Reduced UI bugs, faster onboarding for new developers, and less rework lead to significant savings.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81110" y="5892961"/>
            <a:ext cx="242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5E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Millions Saved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" y="783121"/>
            <a:ext cx="5600700" cy="5245100"/>
          </a:xfrm>
          <a:custGeom>
            <a:avLst/>
            <a:gdLst/>
            <a:ahLst/>
            <a:cxnLst/>
            <a:rect l="l" t="t" r="r" b="b"/>
            <a:pathLst>
              <a:path w="5600700" h="5245100">
                <a:moveTo>
                  <a:pt x="101598" y="0"/>
                </a:moveTo>
                <a:lnTo>
                  <a:pt x="5499102" y="0"/>
                </a:lnTo>
                <a:cubicBezTo>
                  <a:pt x="5555213" y="0"/>
                  <a:pt x="5600700" y="45487"/>
                  <a:pt x="5600700" y="101598"/>
                </a:cubicBezTo>
                <a:lnTo>
                  <a:pt x="5600700" y="5143502"/>
                </a:lnTo>
                <a:cubicBezTo>
                  <a:pt x="5600700" y="5199613"/>
                  <a:pt x="5555213" y="5245100"/>
                  <a:pt x="5499102" y="5245100"/>
                </a:cubicBezTo>
                <a:lnTo>
                  <a:pt x="101598" y="5245100"/>
                </a:lnTo>
                <a:cubicBezTo>
                  <a:pt x="45487" y="5245100"/>
                  <a:pt x="0" y="5199613"/>
                  <a:pt x="0" y="51435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https://kimi-web-img.moonshot.cn/img/thumbs.dreamstime.com/6b6967f76541e7561aba177e40ab7df5a2f54ae5.jpg"/>
          <p:cNvPicPr>
            <a:picLocks noChangeAspect="1"/>
          </p:cNvPicPr>
          <p:nvPr/>
        </p:nvPicPr>
        <p:blipFill>
          <a:blip r:embed="rId3"/>
          <a:srcRect l="11260" r="11260"/>
          <a:stretch/>
        </p:blipFill>
        <p:spPr>
          <a:xfrm>
            <a:off x="375920" y="905036"/>
            <a:ext cx="5397500" cy="5041900"/>
          </a:xfrm>
          <a:prstGeom prst="roundRect">
            <a:avLst>
              <a:gd name="adj" fmla="val 1511"/>
            </a:avLst>
          </a:prstGeom>
        </p:spPr>
      </p:pic>
      <p:sp>
        <p:nvSpPr>
          <p:cNvPr id="4" name="Text 1"/>
          <p:cNvSpPr/>
          <p:nvPr/>
        </p:nvSpPr>
        <p:spPr>
          <a:xfrm>
            <a:off x="6299200" y="203200"/>
            <a:ext cx="563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EE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Ethics &amp; Inclusive Futures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99200" y="1422400"/>
            <a:ext cx="5638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responsibility of designers to ensure technology remains humane, empowering, and socially beneficial for all.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05550" y="279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FF5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91179" y="2794000"/>
            <a:ext cx="524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Avoid Dark Patterns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91179" y="3098800"/>
            <a:ext cx="5041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with integrity. Do not trick users into taking actions they didn't intend to.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56338" y="3810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21159" y="381000"/>
                </a:lnTo>
                <a:cubicBezTo>
                  <a:pt x="194221" y="349300"/>
                  <a:pt x="178594" y="308446"/>
                  <a:pt x="178594" y="265212"/>
                </a:cubicBezTo>
                <a:lnTo>
                  <a:pt x="178594" y="242069"/>
                </a:lnTo>
                <a:cubicBezTo>
                  <a:pt x="178594" y="236637"/>
                  <a:pt x="179338" y="231279"/>
                  <a:pt x="180752" y="226219"/>
                </a:cubicBezTo>
                <a:lnTo>
                  <a:pt x="144587" y="226219"/>
                </a:lnTo>
                <a:close/>
                <a:moveTo>
                  <a:pt x="331366" y="363513"/>
                </a:moveTo>
                <a:lnTo>
                  <a:pt x="321469" y="368201"/>
                </a:lnTo>
                <a:lnTo>
                  <a:pt x="321469" y="228228"/>
                </a:lnTo>
                <a:lnTo>
                  <a:pt x="392906" y="252040"/>
                </a:lnTo>
                <a:lnTo>
                  <a:pt x="392906" y="266626"/>
                </a:lnTo>
                <a:cubicBezTo>
                  <a:pt x="392906" y="308149"/>
                  <a:pt x="368945" y="345877"/>
                  <a:pt x="331366" y="363587"/>
                </a:cubicBezTo>
                <a:close/>
                <a:moveTo>
                  <a:pt x="313953" y="193104"/>
                </a:moveTo>
                <a:lnTo>
                  <a:pt x="230609" y="220861"/>
                </a:lnTo>
                <a:cubicBezTo>
                  <a:pt x="220861" y="224135"/>
                  <a:pt x="214313" y="233214"/>
                  <a:pt x="214313" y="243483"/>
                </a:cubicBezTo>
                <a:lnTo>
                  <a:pt x="214313" y="266626"/>
                </a:lnTo>
                <a:cubicBezTo>
                  <a:pt x="214313" y="321990"/>
                  <a:pt x="246311" y="372368"/>
                  <a:pt x="296317" y="395883"/>
                </a:cubicBezTo>
                <a:lnTo>
                  <a:pt x="310083" y="402357"/>
                </a:lnTo>
                <a:cubicBezTo>
                  <a:pt x="313655" y="403994"/>
                  <a:pt x="317525" y="404887"/>
                  <a:pt x="321394" y="404887"/>
                </a:cubicBezTo>
                <a:cubicBezTo>
                  <a:pt x="325264" y="404887"/>
                  <a:pt x="329208" y="403994"/>
                  <a:pt x="332705" y="402357"/>
                </a:cubicBezTo>
                <a:lnTo>
                  <a:pt x="346472" y="395883"/>
                </a:lnTo>
                <a:cubicBezTo>
                  <a:pt x="396627" y="372294"/>
                  <a:pt x="428625" y="321915"/>
                  <a:pt x="428625" y="266551"/>
                </a:cubicBezTo>
                <a:lnTo>
                  <a:pt x="428625" y="243408"/>
                </a:lnTo>
                <a:cubicBezTo>
                  <a:pt x="428625" y="233139"/>
                  <a:pt x="422077" y="224061"/>
                  <a:pt x="412328" y="220787"/>
                </a:cubicBezTo>
                <a:lnTo>
                  <a:pt x="328985" y="193030"/>
                </a:lnTo>
                <a:cubicBezTo>
                  <a:pt x="324073" y="191393"/>
                  <a:pt x="318790" y="191393"/>
                  <a:pt x="313953" y="193030"/>
                </a:cubicBezTo>
                <a:close/>
              </a:path>
            </a:pathLst>
          </a:custGeom>
          <a:solidFill>
            <a:srgbClr val="408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43871" y="38100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Respect Privacy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43871" y="4114800"/>
            <a:ext cx="509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Champion user data protection and transparency in how information is collected and used.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73800" y="482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20179" y="126429"/>
                </a:moveTo>
                <a:cubicBezTo>
                  <a:pt x="111100" y="122560"/>
                  <a:pt x="100608" y="126727"/>
                  <a:pt x="96738" y="135806"/>
                </a:cubicBezTo>
                <a:cubicBezTo>
                  <a:pt x="92869" y="144884"/>
                  <a:pt x="97036" y="155377"/>
                  <a:pt x="106114" y="159246"/>
                </a:cubicBezTo>
                <a:lnTo>
                  <a:pt x="114970" y="163041"/>
                </a:lnTo>
                <a:cubicBezTo>
                  <a:pt x="127843" y="168548"/>
                  <a:pt x="141163" y="172641"/>
                  <a:pt x="154856" y="175171"/>
                </a:cubicBezTo>
                <a:lnTo>
                  <a:pt x="154856" y="212452"/>
                </a:lnTo>
                <a:cubicBezTo>
                  <a:pt x="154856" y="215652"/>
                  <a:pt x="154335" y="218852"/>
                  <a:pt x="153293" y="221828"/>
                </a:cubicBezTo>
                <a:lnTo>
                  <a:pt x="131936" y="285899"/>
                </a:lnTo>
                <a:cubicBezTo>
                  <a:pt x="128811" y="295275"/>
                  <a:pt x="133871" y="305395"/>
                  <a:pt x="143247" y="308521"/>
                </a:cubicBezTo>
                <a:cubicBezTo>
                  <a:pt x="152623" y="311646"/>
                  <a:pt x="162744" y="306586"/>
                  <a:pt x="165869" y="297210"/>
                </a:cubicBezTo>
                <a:lnTo>
                  <a:pt x="184026" y="242739"/>
                </a:lnTo>
                <a:cubicBezTo>
                  <a:pt x="184993" y="239911"/>
                  <a:pt x="187598" y="237976"/>
                  <a:pt x="190574" y="237976"/>
                </a:cubicBezTo>
                <a:cubicBezTo>
                  <a:pt x="193551" y="237976"/>
                  <a:pt x="196230" y="239911"/>
                  <a:pt x="197123" y="242739"/>
                </a:cubicBezTo>
                <a:lnTo>
                  <a:pt x="215280" y="297210"/>
                </a:lnTo>
                <a:cubicBezTo>
                  <a:pt x="218405" y="306586"/>
                  <a:pt x="228526" y="311646"/>
                  <a:pt x="237902" y="308521"/>
                </a:cubicBezTo>
                <a:cubicBezTo>
                  <a:pt x="247278" y="305395"/>
                  <a:pt x="252264" y="295424"/>
                  <a:pt x="249138" y="286048"/>
                </a:cubicBezTo>
                <a:lnTo>
                  <a:pt x="227781" y="221977"/>
                </a:lnTo>
                <a:cubicBezTo>
                  <a:pt x="226740" y="218926"/>
                  <a:pt x="226219" y="215801"/>
                  <a:pt x="226219" y="212601"/>
                </a:cubicBezTo>
                <a:lnTo>
                  <a:pt x="226219" y="175320"/>
                </a:lnTo>
                <a:cubicBezTo>
                  <a:pt x="239911" y="172715"/>
                  <a:pt x="253231" y="168697"/>
                  <a:pt x="266105" y="163190"/>
                </a:cubicBezTo>
                <a:lnTo>
                  <a:pt x="274960" y="159395"/>
                </a:lnTo>
                <a:cubicBezTo>
                  <a:pt x="284038" y="155525"/>
                  <a:pt x="288206" y="145033"/>
                  <a:pt x="284336" y="135954"/>
                </a:cubicBezTo>
                <a:cubicBezTo>
                  <a:pt x="280467" y="126876"/>
                  <a:pt x="269974" y="122709"/>
                  <a:pt x="260896" y="126578"/>
                </a:cubicBezTo>
                <a:lnTo>
                  <a:pt x="252040" y="130225"/>
                </a:lnTo>
                <a:cubicBezTo>
                  <a:pt x="232618" y="138559"/>
                  <a:pt x="211708" y="142875"/>
                  <a:pt x="190500" y="142875"/>
                </a:cubicBezTo>
                <a:cubicBezTo>
                  <a:pt x="169292" y="142875"/>
                  <a:pt x="148456" y="138559"/>
                  <a:pt x="128960" y="130225"/>
                </a:cubicBezTo>
                <a:lnTo>
                  <a:pt x="120104" y="126429"/>
                </a:lnTo>
                <a:close/>
                <a:moveTo>
                  <a:pt x="190500" y="119063"/>
                </a:moveTo>
                <a:cubicBezTo>
                  <a:pt x="206928" y="119063"/>
                  <a:pt x="220266" y="105725"/>
                  <a:pt x="220266" y="89297"/>
                </a:cubicBezTo>
                <a:cubicBezTo>
                  <a:pt x="220266" y="72869"/>
                  <a:pt x="206928" y="59531"/>
                  <a:pt x="190500" y="59531"/>
                </a:cubicBezTo>
                <a:cubicBezTo>
                  <a:pt x="174072" y="59531"/>
                  <a:pt x="160734" y="72869"/>
                  <a:pt x="160734" y="89297"/>
                </a:cubicBezTo>
                <a:cubicBezTo>
                  <a:pt x="160734" y="105725"/>
                  <a:pt x="174072" y="119063"/>
                  <a:pt x="190500" y="119063"/>
                </a:cubicBezTo>
                <a:close/>
              </a:path>
            </a:pathLst>
          </a:custGeom>
          <a:solidFill>
            <a:srgbClr val="FF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29743" y="4826000"/>
            <a:ext cx="530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Champion Inclusive Design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29743" y="5130800"/>
            <a:ext cx="510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Accommodate users of all ages, abilities, and contexts, including low-bandwidth environments.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7125" y="5842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98787" y="5842000"/>
            <a:ext cx="534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Foster Diverse Teams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98787" y="61468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Diverse perspectives lead to more innovative and equitable solutions. Encourage continuous education and impact audits.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368155" y="6143625"/>
            <a:ext cx="2667000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68155" y="5563870"/>
            <a:ext cx="2667000" cy="5111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0710" y="1315085"/>
            <a:ext cx="8588375" cy="1771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01165" y="1215390"/>
            <a:ext cx="8762365" cy="1905635"/>
          </a:xfrm>
          <a:prstGeom prst="rect">
            <a:avLst/>
          </a:prstGeom>
          <a:solidFill>
            <a:srgbClr val="000000">
              <a:alpha val="0"/>
            </a:srgbClr>
          </a:solidFill>
          <a:ln w="571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01165" y="1215390"/>
            <a:ext cx="8762365" cy="19056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8-27-19:57:41-d2nf5d98bjvh7rlivslg.png"/>
          <p:cNvPicPr>
            <a:picLocks noChangeAspect="1"/>
          </p:cNvPicPr>
          <p:nvPr/>
        </p:nvPicPr>
        <p:blipFill>
          <a:blip r:embed="rId3"/>
          <a:srcRect b="42278"/>
          <a:stretch/>
        </p:blipFill>
        <p:spPr>
          <a:xfrm>
            <a:off x="2338070" y="2733675"/>
            <a:ext cx="7030085" cy="41243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2116</Words>
  <Application>Microsoft Office PowerPoint</Application>
  <PresentationFormat>Widescreen</PresentationFormat>
  <Paragraphs>290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Verdana</vt:lpstr>
      <vt:lpstr>Arial</vt:lpstr>
      <vt:lpstr>MiSans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Design Masterclass</dc:title>
  <dc:subject>UI/UX Design Masterclass</dc:subject>
  <dc:creator>Kimi</dc:creator>
  <cp:lastModifiedBy>Diluka Wijesinghe</cp:lastModifiedBy>
  <cp:revision>10</cp:revision>
  <dcterms:created xsi:type="dcterms:W3CDTF">2025-11-10T15:06:55Z</dcterms:created>
  <dcterms:modified xsi:type="dcterms:W3CDTF">2025-11-13T14:31:32Z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{"Label":"UI/UX Design Masterclass","ContentProducer":"001191110108MACG2KBH8F10000","ProduceID":"d48vkca1ol7hk9i48kng","ReservedCode1":"","ContentPropagator":"001191110108MACG2KBH8F20000","PropagateID":"d48vkca1ol7hk9i48kng","ReservedCode2":""}</vt:lpwstr>
  </property>
</Properties>
</file>